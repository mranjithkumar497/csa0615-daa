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66" r:id="rId4"/>
    <p:sldId id="258" r:id="rId5"/>
    <p:sldId id="259" r:id="rId6"/>
    <p:sldId id="260" r:id="rId7"/>
    <p:sldId id="261" r:id="rId8"/>
    <p:sldId id="262" r:id="rId9"/>
    <p:sldId id="263" r:id="rId10"/>
    <p:sldId id="264" r:id="rId11"/>
    <p:sldId id="265"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0" d="100"/>
          <a:sy n="80" d="100"/>
        </p:scale>
        <p:origin x="4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O(2ⁿ)</c:v>
                </c:pt>
              </c:strCache>
            </c:strRef>
          </c:tx>
          <c:spPr>
            <a:solidFill>
              <a:srgbClr val="E8622C"/>
            </a:solidFill>
            <a:effectLst/>
          </c:spPr>
          <c:invertIfNegative val="0"/>
          <c:cat>
            <c:strRef>
              <c:f>Sheet1!$A$2:$A$12</c:f>
              <c:strCache>
                <c:ptCount val="11"/>
                <c:pt idx="0">
                  <c:v>1</c:v>
                </c:pt>
                <c:pt idx="1">
                  <c:v>2</c:v>
                </c:pt>
                <c:pt idx="2">
                  <c:v>4</c:v>
                </c:pt>
                <c:pt idx="3">
                  <c:v>6</c:v>
                </c:pt>
                <c:pt idx="4">
                  <c:v>8</c:v>
                </c:pt>
                <c:pt idx="5">
                  <c:v>10</c:v>
                </c:pt>
                <c:pt idx="6">
                  <c:v>12</c:v>
                </c:pt>
                <c:pt idx="7">
                  <c:v>14</c:v>
                </c:pt>
                <c:pt idx="8">
                  <c:v>16</c:v>
                </c:pt>
                <c:pt idx="9">
                  <c:v>18</c:v>
                </c:pt>
                <c:pt idx="10">
                  <c:v>20</c:v>
                </c:pt>
              </c:strCache>
            </c:strRef>
          </c:cat>
          <c:val>
            <c:numRef>
              <c:f>Sheet1!$B$2:$B$12</c:f>
              <c:numCache>
                <c:formatCode>General</c:formatCode>
                <c:ptCount val="11"/>
                <c:pt idx="0">
                  <c:v>2</c:v>
                </c:pt>
                <c:pt idx="1">
                  <c:v>4</c:v>
                </c:pt>
                <c:pt idx="2">
                  <c:v>16</c:v>
                </c:pt>
                <c:pt idx="3">
                  <c:v>64</c:v>
                </c:pt>
                <c:pt idx="4">
                  <c:v>256</c:v>
                </c:pt>
                <c:pt idx="5">
                  <c:v>1024</c:v>
                </c:pt>
                <c:pt idx="6">
                  <c:v>4096</c:v>
                </c:pt>
                <c:pt idx="7">
                  <c:v>16384</c:v>
                </c:pt>
                <c:pt idx="8">
                  <c:v>65536</c:v>
                </c:pt>
                <c:pt idx="9">
                  <c:v>262144</c:v>
                </c:pt>
                <c:pt idx="10">
                  <c:v>1048576</c:v>
                </c:pt>
              </c:numCache>
            </c:numRef>
          </c:val>
          <c:extLst>
            <c:ext xmlns:c16="http://schemas.microsoft.com/office/drawing/2014/chart" uri="{C3380CC4-5D6E-409C-BE32-E72D297353CC}">
              <c16:uniqueId val="{00000000-C76B-4F43-B73E-CD9427AC1EE5}"/>
            </c:ext>
          </c:extLst>
        </c:ser>
        <c:ser>
          <c:idx val="1"/>
          <c:order val="1"/>
          <c:tx>
            <c:strRef>
              <c:f>Sheet1!$C$1</c:f>
              <c:strCache>
                <c:ptCount val="1"/>
                <c:pt idx="0">
                  <c:v>O(n²)</c:v>
                </c:pt>
              </c:strCache>
            </c:strRef>
          </c:tx>
          <c:spPr>
            <a:solidFill>
              <a:srgbClr val="C99A2E"/>
            </a:solidFill>
            <a:effectLst/>
          </c:spPr>
          <c:invertIfNegative val="0"/>
          <c:cat>
            <c:strRef>
              <c:f>Sheet1!$A$2:$A$12</c:f>
              <c:strCache>
                <c:ptCount val="11"/>
                <c:pt idx="0">
                  <c:v>1</c:v>
                </c:pt>
                <c:pt idx="1">
                  <c:v>2</c:v>
                </c:pt>
                <c:pt idx="2">
                  <c:v>4</c:v>
                </c:pt>
                <c:pt idx="3">
                  <c:v>6</c:v>
                </c:pt>
                <c:pt idx="4">
                  <c:v>8</c:v>
                </c:pt>
                <c:pt idx="5">
                  <c:v>10</c:v>
                </c:pt>
                <c:pt idx="6">
                  <c:v>12</c:v>
                </c:pt>
                <c:pt idx="7">
                  <c:v>14</c:v>
                </c:pt>
                <c:pt idx="8">
                  <c:v>16</c:v>
                </c:pt>
                <c:pt idx="9">
                  <c:v>18</c:v>
                </c:pt>
                <c:pt idx="10">
                  <c:v>20</c:v>
                </c:pt>
              </c:strCache>
            </c:strRef>
          </c:cat>
          <c:val>
            <c:numRef>
              <c:f>Sheet1!$C$2:$C$12</c:f>
              <c:numCache>
                <c:formatCode>General</c:formatCode>
                <c:ptCount val="11"/>
                <c:pt idx="0">
                  <c:v>1</c:v>
                </c:pt>
                <c:pt idx="1">
                  <c:v>4</c:v>
                </c:pt>
                <c:pt idx="2">
                  <c:v>16</c:v>
                </c:pt>
                <c:pt idx="3">
                  <c:v>36</c:v>
                </c:pt>
                <c:pt idx="4">
                  <c:v>64</c:v>
                </c:pt>
                <c:pt idx="5">
                  <c:v>100</c:v>
                </c:pt>
                <c:pt idx="6">
                  <c:v>144</c:v>
                </c:pt>
                <c:pt idx="7">
                  <c:v>196</c:v>
                </c:pt>
                <c:pt idx="8">
                  <c:v>256</c:v>
                </c:pt>
                <c:pt idx="9">
                  <c:v>324</c:v>
                </c:pt>
                <c:pt idx="10">
                  <c:v>400</c:v>
                </c:pt>
              </c:numCache>
            </c:numRef>
          </c:val>
          <c:extLst>
            <c:ext xmlns:c16="http://schemas.microsoft.com/office/drawing/2014/chart" uri="{C3380CC4-5D6E-409C-BE32-E72D297353CC}">
              <c16:uniqueId val="{00000001-C76B-4F43-B73E-CD9427AC1EE5}"/>
            </c:ext>
          </c:extLst>
        </c:ser>
        <c:ser>
          <c:idx val="2"/>
          <c:order val="2"/>
          <c:tx>
            <c:strRef>
              <c:f>Sheet1!$D$1</c:f>
              <c:strCache>
                <c:ptCount val="1"/>
                <c:pt idx="0">
                  <c:v>O(n log n)</c:v>
                </c:pt>
              </c:strCache>
            </c:strRef>
          </c:tx>
          <c:spPr>
            <a:solidFill>
              <a:srgbClr val="1E2761"/>
            </a:solidFill>
            <a:effectLst/>
          </c:spPr>
          <c:invertIfNegative val="0"/>
          <c:cat>
            <c:strRef>
              <c:f>Sheet1!$A$2:$A$12</c:f>
              <c:strCache>
                <c:ptCount val="11"/>
                <c:pt idx="0">
                  <c:v>1</c:v>
                </c:pt>
                <c:pt idx="1">
                  <c:v>2</c:v>
                </c:pt>
                <c:pt idx="2">
                  <c:v>4</c:v>
                </c:pt>
                <c:pt idx="3">
                  <c:v>6</c:v>
                </c:pt>
                <c:pt idx="4">
                  <c:v>8</c:v>
                </c:pt>
                <c:pt idx="5">
                  <c:v>10</c:v>
                </c:pt>
                <c:pt idx="6">
                  <c:v>12</c:v>
                </c:pt>
                <c:pt idx="7">
                  <c:v>14</c:v>
                </c:pt>
                <c:pt idx="8">
                  <c:v>16</c:v>
                </c:pt>
                <c:pt idx="9">
                  <c:v>18</c:v>
                </c:pt>
                <c:pt idx="10">
                  <c:v>20</c:v>
                </c:pt>
              </c:strCache>
            </c:strRef>
          </c:cat>
          <c:val>
            <c:numRef>
              <c:f>Sheet1!$D$2:$D$12</c:f>
              <c:numCache>
                <c:formatCode>General</c:formatCode>
                <c:ptCount val="11"/>
                <c:pt idx="0">
                  <c:v>0</c:v>
                </c:pt>
                <c:pt idx="1">
                  <c:v>2</c:v>
                </c:pt>
                <c:pt idx="2">
                  <c:v>8</c:v>
                </c:pt>
                <c:pt idx="3">
                  <c:v>15.5</c:v>
                </c:pt>
                <c:pt idx="4">
                  <c:v>24</c:v>
                </c:pt>
                <c:pt idx="5">
                  <c:v>33.200000000000003</c:v>
                </c:pt>
                <c:pt idx="6">
                  <c:v>43</c:v>
                </c:pt>
                <c:pt idx="7">
                  <c:v>53.4</c:v>
                </c:pt>
                <c:pt idx="8">
                  <c:v>64</c:v>
                </c:pt>
                <c:pt idx="9">
                  <c:v>75.099999999999994</c:v>
                </c:pt>
                <c:pt idx="10">
                  <c:v>86.4</c:v>
                </c:pt>
              </c:numCache>
            </c:numRef>
          </c:val>
          <c:extLst>
            <c:ext xmlns:c16="http://schemas.microsoft.com/office/drawing/2014/chart" uri="{C3380CC4-5D6E-409C-BE32-E72D297353CC}">
              <c16:uniqueId val="{00000002-C76B-4F43-B73E-CD9427AC1EE5}"/>
            </c:ext>
          </c:extLst>
        </c:ser>
        <c:ser>
          <c:idx val="3"/>
          <c:order val="3"/>
          <c:tx>
            <c:strRef>
              <c:f>Sheet1!$E$1</c:f>
              <c:strCache>
                <c:ptCount val="1"/>
                <c:pt idx="0">
                  <c:v>O(n)</c:v>
                </c:pt>
              </c:strCache>
            </c:strRef>
          </c:tx>
          <c:spPr>
            <a:solidFill>
              <a:srgbClr val="2E9E6F"/>
            </a:solidFill>
            <a:effectLst/>
          </c:spPr>
          <c:invertIfNegative val="0"/>
          <c:cat>
            <c:strRef>
              <c:f>Sheet1!$A$2:$A$12</c:f>
              <c:strCache>
                <c:ptCount val="11"/>
                <c:pt idx="0">
                  <c:v>1</c:v>
                </c:pt>
                <c:pt idx="1">
                  <c:v>2</c:v>
                </c:pt>
                <c:pt idx="2">
                  <c:v>4</c:v>
                </c:pt>
                <c:pt idx="3">
                  <c:v>6</c:v>
                </c:pt>
                <c:pt idx="4">
                  <c:v>8</c:v>
                </c:pt>
                <c:pt idx="5">
                  <c:v>10</c:v>
                </c:pt>
                <c:pt idx="6">
                  <c:v>12</c:v>
                </c:pt>
                <c:pt idx="7">
                  <c:v>14</c:v>
                </c:pt>
                <c:pt idx="8">
                  <c:v>16</c:v>
                </c:pt>
                <c:pt idx="9">
                  <c:v>18</c:v>
                </c:pt>
                <c:pt idx="10">
                  <c:v>20</c:v>
                </c:pt>
              </c:strCache>
            </c:strRef>
          </c:cat>
          <c:val>
            <c:numRef>
              <c:f>Sheet1!$E$2:$E$12</c:f>
              <c:numCache>
                <c:formatCode>General</c:formatCode>
                <c:ptCount val="11"/>
                <c:pt idx="0">
                  <c:v>1</c:v>
                </c:pt>
                <c:pt idx="1">
                  <c:v>2</c:v>
                </c:pt>
                <c:pt idx="2">
                  <c:v>4</c:v>
                </c:pt>
                <c:pt idx="3">
                  <c:v>6</c:v>
                </c:pt>
                <c:pt idx="4">
                  <c:v>8</c:v>
                </c:pt>
                <c:pt idx="5">
                  <c:v>10</c:v>
                </c:pt>
                <c:pt idx="6">
                  <c:v>12</c:v>
                </c:pt>
                <c:pt idx="7">
                  <c:v>14</c:v>
                </c:pt>
                <c:pt idx="8">
                  <c:v>16</c:v>
                </c:pt>
                <c:pt idx="9">
                  <c:v>18</c:v>
                </c:pt>
                <c:pt idx="10">
                  <c:v>20</c:v>
                </c:pt>
              </c:numCache>
            </c:numRef>
          </c:val>
          <c:extLst>
            <c:ext xmlns:c16="http://schemas.microsoft.com/office/drawing/2014/chart" uri="{C3380CC4-5D6E-409C-BE32-E72D297353CC}">
              <c16:uniqueId val="{00000003-C76B-4F43-B73E-CD9427AC1EE5}"/>
            </c:ext>
          </c:extLst>
        </c:ser>
        <c:ser>
          <c:idx val="4"/>
          <c:order val="4"/>
          <c:tx>
            <c:strRef>
              <c:f>Sheet1!$F$1</c:f>
              <c:strCache>
                <c:ptCount val="1"/>
                <c:pt idx="0">
                  <c:v>O(log n)</c:v>
                </c:pt>
              </c:strCache>
            </c:strRef>
          </c:tx>
          <c:spPr>
            <a:solidFill>
              <a:srgbClr val="CADCFC"/>
            </a:solidFill>
            <a:effectLst/>
          </c:spPr>
          <c:invertIfNegative val="0"/>
          <c:cat>
            <c:strRef>
              <c:f>Sheet1!$A$2:$A$12</c:f>
              <c:strCache>
                <c:ptCount val="11"/>
                <c:pt idx="0">
                  <c:v>1</c:v>
                </c:pt>
                <c:pt idx="1">
                  <c:v>2</c:v>
                </c:pt>
                <c:pt idx="2">
                  <c:v>4</c:v>
                </c:pt>
                <c:pt idx="3">
                  <c:v>6</c:v>
                </c:pt>
                <c:pt idx="4">
                  <c:v>8</c:v>
                </c:pt>
                <c:pt idx="5">
                  <c:v>10</c:v>
                </c:pt>
                <c:pt idx="6">
                  <c:v>12</c:v>
                </c:pt>
                <c:pt idx="7">
                  <c:v>14</c:v>
                </c:pt>
                <c:pt idx="8">
                  <c:v>16</c:v>
                </c:pt>
                <c:pt idx="9">
                  <c:v>18</c:v>
                </c:pt>
                <c:pt idx="10">
                  <c:v>20</c:v>
                </c:pt>
              </c:strCache>
            </c:strRef>
          </c:cat>
          <c:val>
            <c:numRef>
              <c:f>Sheet1!$F$2:$F$12</c:f>
              <c:numCache>
                <c:formatCode>General</c:formatCode>
                <c:ptCount val="11"/>
                <c:pt idx="0">
                  <c:v>0</c:v>
                </c:pt>
                <c:pt idx="1">
                  <c:v>1</c:v>
                </c:pt>
                <c:pt idx="2">
                  <c:v>2</c:v>
                </c:pt>
                <c:pt idx="3">
                  <c:v>2.58</c:v>
                </c:pt>
                <c:pt idx="4">
                  <c:v>3</c:v>
                </c:pt>
                <c:pt idx="5">
                  <c:v>3.32</c:v>
                </c:pt>
                <c:pt idx="6">
                  <c:v>3.58</c:v>
                </c:pt>
                <c:pt idx="7">
                  <c:v>3.81</c:v>
                </c:pt>
                <c:pt idx="8">
                  <c:v>4</c:v>
                </c:pt>
                <c:pt idx="9">
                  <c:v>4.17</c:v>
                </c:pt>
                <c:pt idx="10">
                  <c:v>4.32</c:v>
                </c:pt>
              </c:numCache>
            </c:numRef>
          </c:val>
          <c:extLst>
            <c:ext xmlns:c16="http://schemas.microsoft.com/office/drawing/2014/chart" uri="{C3380CC4-5D6E-409C-BE32-E72D297353CC}">
              <c16:uniqueId val="{00000004-C76B-4F43-B73E-CD9427AC1EE5}"/>
            </c:ext>
          </c:extLst>
        </c:ser>
        <c:dLbls>
          <c:showLegendKey val="0"/>
          <c:showVal val="0"/>
          <c:showCatName val="0"/>
          <c:showSerName val="0"/>
          <c:showPercent val="0"/>
          <c:showBubbleSize val="0"/>
        </c:dLbls>
        <c:gapWidth val="30"/>
        <c:axId val="2094734554"/>
        <c:axId val="2094734552"/>
      </c:barChart>
      <c:catAx>
        <c:axId val="2094734554"/>
        <c:scaling>
          <c:orientation val="minMax"/>
        </c:scaling>
        <c:delete val="0"/>
        <c:axPos val="b"/>
        <c:title>
          <c:tx>
            <c:rich>
              <a:bodyPr/>
              <a:lstStyle/>
              <a:p>
                <a:pPr>
                  <a:defRPr sz="1100" b="0" i="0" u="none" strike="noStrike">
                    <a:solidFill>
                      <a:srgbClr val="5A6482"/>
                    </a:solidFill>
                    <a:latin typeface="Arial"/>
                  </a:defRPr>
                </a:pPr>
                <a:r>
                  <a:rPr lang="en-IN" sz="1100" b="0" i="0" u="none" strike="noStrike">
                    <a:solidFill>
                      <a:srgbClr val="5A6482"/>
                    </a:solidFill>
                    <a:latin typeface="Arial"/>
                  </a:rPr>
                  <a:t>Input size (n)</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A648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1E5F5"/>
              </a:solidFill>
              <a:prstDash val="solid"/>
              <a:round/>
            </a:ln>
          </c:spPr>
        </c:majorGridlines>
        <c:title>
          <c:tx>
            <c:rich>
              <a:bodyPr/>
              <a:lstStyle/>
              <a:p>
                <a:pPr>
                  <a:defRPr sz="1100" b="0" i="0" u="none" strike="noStrike">
                    <a:solidFill>
                      <a:srgbClr val="5A6482"/>
                    </a:solidFill>
                    <a:latin typeface="Arial"/>
                  </a:defRPr>
                </a:pPr>
                <a:r>
                  <a:rPr lang="en-IN" sz="1100" b="0" i="0" u="none" strike="noStrike">
                    <a:solidFill>
                      <a:srgbClr val="5A6482"/>
                    </a:solidFill>
                    <a:latin typeface="Arial"/>
                  </a:rPr>
                  <a:t>Operations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5A648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A6482"/>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O(n²)</c:v>
                </c:pt>
              </c:strCache>
            </c:strRef>
          </c:tx>
          <c:spPr>
            <a:ln w="34925" cap="flat">
              <a:solidFill>
                <a:srgbClr val="E8622C"/>
              </a:solidFill>
              <a:prstDash val="solid"/>
              <a:round/>
            </a:ln>
            <a:effectLst/>
          </c:spPr>
          <c:marker>
            <c:symbol val="circle"/>
            <c:size val="5"/>
            <c:spPr>
              <a:solidFill>
                <a:srgbClr val="E8622C"/>
              </a:solidFill>
              <a:ln w="9525" cap="flat">
                <a:solidFill>
                  <a:srgbClr val="E8622C"/>
                </a:solidFill>
                <a:prstDash val="solid"/>
                <a:round/>
              </a:ln>
              <a:effectLst/>
            </c:spPr>
          </c:marker>
          <c:cat>
            <c:strRef>
              <c:f>Sheet1!$A$2:$A$11</c:f>
              <c:strCache>
                <c:ptCount val="10"/>
                <c:pt idx="0">
                  <c:v>10</c:v>
                </c:pt>
                <c:pt idx="1">
                  <c:v>20</c:v>
                </c:pt>
                <c:pt idx="2">
                  <c:v>30</c:v>
                </c:pt>
                <c:pt idx="3">
                  <c:v>40</c:v>
                </c:pt>
                <c:pt idx="4">
                  <c:v>50</c:v>
                </c:pt>
                <c:pt idx="5">
                  <c:v>60</c:v>
                </c:pt>
                <c:pt idx="6">
                  <c:v>70</c:v>
                </c:pt>
                <c:pt idx="7">
                  <c:v>80</c:v>
                </c:pt>
                <c:pt idx="8">
                  <c:v>90</c:v>
                </c:pt>
                <c:pt idx="9">
                  <c:v>100</c:v>
                </c:pt>
              </c:strCache>
            </c:strRef>
          </c:cat>
          <c:val>
            <c:numRef>
              <c:f>Sheet1!$B$2:$B$11</c:f>
              <c:numCache>
                <c:formatCode>General</c:formatCode>
                <c:ptCount val="10"/>
                <c:pt idx="0">
                  <c:v>100</c:v>
                </c:pt>
                <c:pt idx="1">
                  <c:v>400</c:v>
                </c:pt>
                <c:pt idx="2">
                  <c:v>900</c:v>
                </c:pt>
                <c:pt idx="3">
                  <c:v>1600</c:v>
                </c:pt>
                <c:pt idx="4">
                  <c:v>2500</c:v>
                </c:pt>
                <c:pt idx="5">
                  <c:v>3600</c:v>
                </c:pt>
                <c:pt idx="6">
                  <c:v>4900</c:v>
                </c:pt>
                <c:pt idx="7">
                  <c:v>6400</c:v>
                </c:pt>
                <c:pt idx="8">
                  <c:v>8100</c:v>
                </c:pt>
                <c:pt idx="9">
                  <c:v>10000</c:v>
                </c:pt>
              </c:numCache>
            </c:numRef>
          </c:val>
          <c:smooth val="0"/>
          <c:extLst>
            <c:ext xmlns:c16="http://schemas.microsoft.com/office/drawing/2014/chart" uri="{C3380CC4-5D6E-409C-BE32-E72D297353CC}">
              <c16:uniqueId val="{00000000-D5BA-47EF-9469-4AFBA6BF9F1D}"/>
            </c:ext>
          </c:extLst>
        </c:ser>
        <c:ser>
          <c:idx val="1"/>
          <c:order val="1"/>
          <c:tx>
            <c:strRef>
              <c:f>Sheet1!$C$1</c:f>
              <c:strCache>
                <c:ptCount val="1"/>
                <c:pt idx="0">
                  <c:v>O(n log n)</c:v>
                </c:pt>
              </c:strCache>
            </c:strRef>
          </c:tx>
          <c:spPr>
            <a:ln w="34925" cap="flat">
              <a:solidFill>
                <a:srgbClr val="1E2761"/>
              </a:solidFill>
              <a:prstDash val="solid"/>
              <a:round/>
            </a:ln>
            <a:effectLst/>
          </c:spPr>
          <c:marker>
            <c:symbol val="circle"/>
            <c:size val="5"/>
            <c:spPr>
              <a:solidFill>
                <a:srgbClr val="1E2761"/>
              </a:solidFill>
              <a:ln w="9525" cap="flat">
                <a:solidFill>
                  <a:srgbClr val="1E2761"/>
                </a:solidFill>
                <a:prstDash val="solid"/>
                <a:round/>
              </a:ln>
              <a:effectLst/>
            </c:spPr>
          </c:marker>
          <c:cat>
            <c:strRef>
              <c:f>Sheet1!$A$2:$A$11</c:f>
              <c:strCache>
                <c:ptCount val="10"/>
                <c:pt idx="0">
                  <c:v>10</c:v>
                </c:pt>
                <c:pt idx="1">
                  <c:v>20</c:v>
                </c:pt>
                <c:pt idx="2">
                  <c:v>30</c:v>
                </c:pt>
                <c:pt idx="3">
                  <c:v>40</c:v>
                </c:pt>
                <c:pt idx="4">
                  <c:v>50</c:v>
                </c:pt>
                <c:pt idx="5">
                  <c:v>60</c:v>
                </c:pt>
                <c:pt idx="6">
                  <c:v>70</c:v>
                </c:pt>
                <c:pt idx="7">
                  <c:v>80</c:v>
                </c:pt>
                <c:pt idx="8">
                  <c:v>90</c:v>
                </c:pt>
                <c:pt idx="9">
                  <c:v>100</c:v>
                </c:pt>
              </c:strCache>
            </c:strRef>
          </c:cat>
          <c:val>
            <c:numRef>
              <c:f>Sheet1!$C$2:$C$11</c:f>
              <c:numCache>
                <c:formatCode>General</c:formatCode>
                <c:ptCount val="10"/>
                <c:pt idx="0">
                  <c:v>33.200000000000003</c:v>
                </c:pt>
                <c:pt idx="1">
                  <c:v>86.4</c:v>
                </c:pt>
                <c:pt idx="2">
                  <c:v>147.19999999999999</c:v>
                </c:pt>
                <c:pt idx="3">
                  <c:v>212.9</c:v>
                </c:pt>
                <c:pt idx="4">
                  <c:v>282.2</c:v>
                </c:pt>
                <c:pt idx="5">
                  <c:v>354.4</c:v>
                </c:pt>
                <c:pt idx="6">
                  <c:v>429.2</c:v>
                </c:pt>
                <c:pt idx="7">
                  <c:v>505.8</c:v>
                </c:pt>
                <c:pt idx="8">
                  <c:v>584.4</c:v>
                </c:pt>
                <c:pt idx="9">
                  <c:v>664.4</c:v>
                </c:pt>
              </c:numCache>
            </c:numRef>
          </c:val>
          <c:smooth val="0"/>
          <c:extLst>
            <c:ext xmlns:c16="http://schemas.microsoft.com/office/drawing/2014/chart" uri="{C3380CC4-5D6E-409C-BE32-E72D297353CC}">
              <c16:uniqueId val="{00000001-D5BA-47EF-9469-4AFBA6BF9F1D}"/>
            </c:ext>
          </c:extLst>
        </c:ser>
        <c:ser>
          <c:idx val="2"/>
          <c:order val="2"/>
          <c:tx>
            <c:strRef>
              <c:f>Sheet1!$D$1</c:f>
              <c:strCache>
                <c:ptCount val="1"/>
                <c:pt idx="0">
                  <c:v>O(n)</c:v>
                </c:pt>
              </c:strCache>
            </c:strRef>
          </c:tx>
          <c:spPr>
            <a:ln w="34925" cap="flat">
              <a:solidFill>
                <a:srgbClr val="2E9E6F"/>
              </a:solidFill>
              <a:prstDash val="solid"/>
              <a:round/>
            </a:ln>
            <a:effectLst/>
          </c:spPr>
          <c:marker>
            <c:symbol val="circle"/>
            <c:size val="5"/>
            <c:spPr>
              <a:solidFill>
                <a:srgbClr val="2E9E6F"/>
              </a:solidFill>
              <a:ln w="9525" cap="flat">
                <a:solidFill>
                  <a:srgbClr val="2E9E6F"/>
                </a:solidFill>
                <a:prstDash val="solid"/>
                <a:round/>
              </a:ln>
              <a:effectLst/>
            </c:spPr>
          </c:marker>
          <c:cat>
            <c:strRef>
              <c:f>Sheet1!$A$2:$A$11</c:f>
              <c:strCache>
                <c:ptCount val="10"/>
                <c:pt idx="0">
                  <c:v>10</c:v>
                </c:pt>
                <c:pt idx="1">
                  <c:v>20</c:v>
                </c:pt>
                <c:pt idx="2">
                  <c:v>30</c:v>
                </c:pt>
                <c:pt idx="3">
                  <c:v>40</c:v>
                </c:pt>
                <c:pt idx="4">
                  <c:v>50</c:v>
                </c:pt>
                <c:pt idx="5">
                  <c:v>60</c:v>
                </c:pt>
                <c:pt idx="6">
                  <c:v>70</c:v>
                </c:pt>
                <c:pt idx="7">
                  <c:v>80</c:v>
                </c:pt>
                <c:pt idx="8">
                  <c:v>90</c:v>
                </c:pt>
                <c:pt idx="9">
                  <c:v>100</c:v>
                </c:pt>
              </c:strCache>
            </c:strRef>
          </c:cat>
          <c:val>
            <c:numRef>
              <c:f>Sheet1!$D$2:$D$11</c:f>
              <c:numCache>
                <c:formatCode>General</c:formatCode>
                <c:ptCount val="10"/>
                <c:pt idx="0">
                  <c:v>10</c:v>
                </c:pt>
                <c:pt idx="1">
                  <c:v>20</c:v>
                </c:pt>
                <c:pt idx="2">
                  <c:v>30</c:v>
                </c:pt>
                <c:pt idx="3">
                  <c:v>40</c:v>
                </c:pt>
                <c:pt idx="4">
                  <c:v>50</c:v>
                </c:pt>
                <c:pt idx="5">
                  <c:v>60</c:v>
                </c:pt>
                <c:pt idx="6">
                  <c:v>70</c:v>
                </c:pt>
                <c:pt idx="7">
                  <c:v>80</c:v>
                </c:pt>
                <c:pt idx="8">
                  <c:v>90</c:v>
                </c:pt>
                <c:pt idx="9">
                  <c:v>100</c:v>
                </c:pt>
              </c:numCache>
            </c:numRef>
          </c:val>
          <c:smooth val="0"/>
          <c:extLst>
            <c:ext xmlns:c16="http://schemas.microsoft.com/office/drawing/2014/chart" uri="{C3380CC4-5D6E-409C-BE32-E72D297353CC}">
              <c16:uniqueId val="{00000002-D5BA-47EF-9469-4AFBA6BF9F1D}"/>
            </c:ext>
          </c:extLst>
        </c:ser>
        <c:ser>
          <c:idx val="3"/>
          <c:order val="3"/>
          <c:tx>
            <c:strRef>
              <c:f>Sheet1!$E$1</c:f>
              <c:strCache>
                <c:ptCount val="1"/>
                <c:pt idx="0">
                  <c:v>O(log n)</c:v>
                </c:pt>
              </c:strCache>
            </c:strRef>
          </c:tx>
          <c:spPr>
            <a:ln w="34925" cap="flat">
              <a:solidFill>
                <a:srgbClr val="CADCFC"/>
              </a:solidFill>
              <a:prstDash val="solid"/>
              <a:round/>
            </a:ln>
            <a:effectLst/>
          </c:spPr>
          <c:marker>
            <c:symbol val="circle"/>
            <c:size val="5"/>
            <c:spPr>
              <a:solidFill>
                <a:srgbClr val="CADCFC"/>
              </a:solidFill>
              <a:ln w="9525" cap="flat">
                <a:solidFill>
                  <a:srgbClr val="CADCFC"/>
                </a:solidFill>
                <a:prstDash val="solid"/>
                <a:round/>
              </a:ln>
              <a:effectLst/>
            </c:spPr>
          </c:marker>
          <c:cat>
            <c:strRef>
              <c:f>Sheet1!$A$2:$A$11</c:f>
              <c:strCache>
                <c:ptCount val="10"/>
                <c:pt idx="0">
                  <c:v>10</c:v>
                </c:pt>
                <c:pt idx="1">
                  <c:v>20</c:v>
                </c:pt>
                <c:pt idx="2">
                  <c:v>30</c:v>
                </c:pt>
                <c:pt idx="3">
                  <c:v>40</c:v>
                </c:pt>
                <c:pt idx="4">
                  <c:v>50</c:v>
                </c:pt>
                <c:pt idx="5">
                  <c:v>60</c:v>
                </c:pt>
                <c:pt idx="6">
                  <c:v>70</c:v>
                </c:pt>
                <c:pt idx="7">
                  <c:v>80</c:v>
                </c:pt>
                <c:pt idx="8">
                  <c:v>90</c:v>
                </c:pt>
                <c:pt idx="9">
                  <c:v>100</c:v>
                </c:pt>
              </c:strCache>
            </c:strRef>
          </c:cat>
          <c:val>
            <c:numRef>
              <c:f>Sheet1!$E$2:$E$11</c:f>
              <c:numCache>
                <c:formatCode>General</c:formatCode>
                <c:ptCount val="10"/>
                <c:pt idx="0">
                  <c:v>3.32</c:v>
                </c:pt>
                <c:pt idx="1">
                  <c:v>4.32</c:v>
                </c:pt>
                <c:pt idx="2">
                  <c:v>4.91</c:v>
                </c:pt>
                <c:pt idx="3">
                  <c:v>5.32</c:v>
                </c:pt>
                <c:pt idx="4">
                  <c:v>5.64</c:v>
                </c:pt>
                <c:pt idx="5">
                  <c:v>5.91</c:v>
                </c:pt>
                <c:pt idx="6">
                  <c:v>6.13</c:v>
                </c:pt>
                <c:pt idx="7">
                  <c:v>6.32</c:v>
                </c:pt>
                <c:pt idx="8">
                  <c:v>6.49</c:v>
                </c:pt>
                <c:pt idx="9">
                  <c:v>6.64</c:v>
                </c:pt>
              </c:numCache>
            </c:numRef>
          </c:val>
          <c:smooth val="0"/>
          <c:extLst>
            <c:ext xmlns:c16="http://schemas.microsoft.com/office/drawing/2014/chart" uri="{C3380CC4-5D6E-409C-BE32-E72D297353CC}">
              <c16:uniqueId val="{00000003-D5BA-47EF-9469-4AFBA6BF9F1D}"/>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rgbClr val="5A6482"/>
                    </a:solidFill>
                    <a:latin typeface="Arial"/>
                  </a:defRPr>
                </a:pPr>
                <a:r>
                  <a:rPr lang="en-IN" sz="1100" b="0" i="0" u="none" strike="noStrike">
                    <a:solidFill>
                      <a:srgbClr val="5A6482"/>
                    </a:solidFill>
                    <a:latin typeface="Arial"/>
                  </a:rPr>
                  <a:t>Input size (n)</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A6482"/>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1E5F5"/>
              </a:solidFill>
              <a:prstDash val="solid"/>
              <a:round/>
            </a:ln>
          </c:spPr>
        </c:majorGridlines>
        <c:title>
          <c:tx>
            <c:rich>
              <a:bodyPr/>
              <a:lstStyle/>
              <a:p>
                <a:pPr>
                  <a:defRPr sz="1100" b="0" i="0" u="none" strike="noStrike">
                    <a:solidFill>
                      <a:srgbClr val="5A6482"/>
                    </a:solidFill>
                    <a:latin typeface="Arial"/>
                  </a:defRPr>
                </a:pPr>
                <a:r>
                  <a:rPr lang="en-IN" sz="1100" b="0" i="0" u="none" strike="noStrike">
                    <a:solidFill>
                      <a:srgbClr val="5A6482"/>
                    </a:solidFill>
                    <a:latin typeface="Arial"/>
                  </a:rPr>
                  <a:t>Operations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5A648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A6482"/>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7972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58290-ACCA-1D57-EFC2-704A0F2EB1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08FECA-0570-F6AA-3B50-34DAB8374F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5CEF15-D762-65E7-385E-4B1135ACD0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E486D8-FA64-19DC-0D31-057146F7CD0E}"/>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7915894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9"/>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B49"/>
          </a:solidFill>
          <a:ln/>
        </p:spPr>
      </p:sp>
      <p:sp>
        <p:nvSpPr>
          <p:cNvPr id="3" name="Shape 1"/>
          <p:cNvSpPr/>
          <p:nvPr/>
        </p:nvSpPr>
        <p:spPr>
          <a:xfrm>
            <a:off x="10362895" y="4754880"/>
            <a:ext cx="3657600" cy="3657600"/>
          </a:xfrm>
          <a:prstGeom prst="ellipse">
            <a:avLst/>
          </a:prstGeom>
          <a:ln w="12700">
            <a:solidFill>
              <a:srgbClr val="CADCFC">
                <a:alpha val="30000"/>
              </a:srgbClr>
            </a:solidFill>
            <a:prstDash val="solid"/>
          </a:ln>
        </p:spPr>
      </p:sp>
      <p:sp>
        <p:nvSpPr>
          <p:cNvPr id="4" name="Shape 2"/>
          <p:cNvSpPr/>
          <p:nvPr/>
        </p:nvSpPr>
        <p:spPr>
          <a:xfrm>
            <a:off x="9539935" y="3808476"/>
            <a:ext cx="5303520" cy="5303520"/>
          </a:xfrm>
          <a:prstGeom prst="ellipse">
            <a:avLst/>
          </a:prstGeom>
          <a:ln w="12700">
            <a:solidFill>
              <a:srgbClr val="E8622C">
                <a:alpha val="30000"/>
              </a:srgbClr>
            </a:solidFill>
            <a:prstDash val="solid"/>
          </a:ln>
        </p:spPr>
      </p:sp>
      <p:sp>
        <p:nvSpPr>
          <p:cNvPr id="5" name="Shape 3"/>
          <p:cNvSpPr/>
          <p:nvPr/>
        </p:nvSpPr>
        <p:spPr>
          <a:xfrm>
            <a:off x="8716975" y="2862072"/>
            <a:ext cx="6949440" cy="6949440"/>
          </a:xfrm>
          <a:prstGeom prst="ellipse">
            <a:avLst/>
          </a:prstGeom>
          <a:ln w="12700">
            <a:solidFill>
              <a:srgbClr val="CADCFC">
                <a:alpha val="30000"/>
              </a:srgbClr>
            </a:solidFill>
            <a:prstDash val="solid"/>
          </a:ln>
        </p:spPr>
      </p:sp>
      <p:sp>
        <p:nvSpPr>
          <p:cNvPr id="6" name="Shape 4"/>
          <p:cNvSpPr/>
          <p:nvPr/>
        </p:nvSpPr>
        <p:spPr>
          <a:xfrm>
            <a:off x="7894015" y="1915668"/>
            <a:ext cx="8595360" cy="8595360"/>
          </a:xfrm>
          <a:prstGeom prst="ellipse">
            <a:avLst/>
          </a:prstGeom>
          <a:ln w="12700">
            <a:solidFill>
              <a:srgbClr val="E8622C">
                <a:alpha val="30000"/>
              </a:srgbClr>
            </a:solidFill>
            <a:prstDash val="solid"/>
          </a:ln>
        </p:spPr>
      </p:sp>
      <p:sp>
        <p:nvSpPr>
          <p:cNvPr id="7" name="Shape 5"/>
          <p:cNvSpPr/>
          <p:nvPr/>
        </p:nvSpPr>
        <p:spPr>
          <a:xfrm>
            <a:off x="7071055" y="969264"/>
            <a:ext cx="10241280" cy="10241280"/>
          </a:xfrm>
          <a:prstGeom prst="ellipse">
            <a:avLst/>
          </a:prstGeom>
          <a:ln w="12700">
            <a:solidFill>
              <a:srgbClr val="CADCFC">
                <a:alpha val="30000"/>
              </a:srgbClr>
            </a:solidFill>
            <a:prstDash val="solid"/>
          </a:ln>
        </p:spPr>
      </p:sp>
      <p:sp>
        <p:nvSpPr>
          <p:cNvPr id="8" name="Text 6"/>
          <p:cNvSpPr/>
          <p:nvPr/>
        </p:nvSpPr>
        <p:spPr>
          <a:xfrm>
            <a:off x="548640" y="1874520"/>
            <a:ext cx="8229600" cy="365760"/>
          </a:xfrm>
          <a:prstGeom prst="rect">
            <a:avLst/>
          </a:prstGeom>
          <a:noFill/>
          <a:ln/>
        </p:spPr>
        <p:txBody>
          <a:bodyPr wrap="square" rtlCol="0" anchor="ctr"/>
          <a:lstStyle/>
          <a:p>
            <a:pPr marL="0" indent="0">
              <a:buNone/>
            </a:pPr>
            <a:r>
              <a:rPr lang="en-US" sz="1400" b="1" kern="0" spc="300" dirty="0">
                <a:solidFill>
                  <a:srgbClr val="E8622C"/>
                </a:solidFill>
                <a:latin typeface="Calibri" pitchFamily="34" charset="0"/>
                <a:ea typeface="Calibri" pitchFamily="34" charset="-122"/>
                <a:cs typeface="Calibri" pitchFamily="34" charset="-120"/>
              </a:rPr>
              <a:t>ALGORITHM EFFICIENCY SERIES</a:t>
            </a:r>
            <a:endParaRPr lang="en-US" sz="1400" dirty="0"/>
          </a:p>
        </p:txBody>
      </p:sp>
      <p:sp>
        <p:nvSpPr>
          <p:cNvPr id="9" name="Text 7"/>
          <p:cNvSpPr/>
          <p:nvPr/>
        </p:nvSpPr>
        <p:spPr>
          <a:xfrm>
            <a:off x="548640" y="2286000"/>
            <a:ext cx="9601200" cy="1463040"/>
          </a:xfrm>
          <a:prstGeom prst="rect">
            <a:avLst/>
          </a:prstGeom>
          <a:noFill/>
          <a:ln/>
        </p:spPr>
        <p:txBody>
          <a:bodyPr wrap="square" rtlCol="0" anchor="ctr"/>
          <a:lstStyle/>
          <a:p>
            <a:pPr marL="0" indent="0">
              <a:lnSpc>
                <a:spcPts val="4600"/>
              </a:lnSpc>
              <a:buNone/>
            </a:pPr>
            <a:r>
              <a:rPr lang="en-US" sz="4200" b="1" dirty="0">
                <a:solidFill>
                  <a:srgbClr val="FFFFFF"/>
                </a:solidFill>
                <a:latin typeface="Cambria" pitchFamily="34" charset="0"/>
                <a:ea typeface="Cambria" pitchFamily="34" charset="-122"/>
                <a:cs typeface="Cambria" pitchFamily="34" charset="-120"/>
              </a:rPr>
              <a:t>Growth Functions &amp; Algorithm Efficiency</a:t>
            </a:r>
            <a:endParaRPr lang="en-US" sz="4200" dirty="0"/>
          </a:p>
        </p:txBody>
      </p:sp>
      <p:sp>
        <p:nvSpPr>
          <p:cNvPr id="10" name="Text 8"/>
          <p:cNvSpPr/>
          <p:nvPr/>
        </p:nvSpPr>
        <p:spPr>
          <a:xfrm>
            <a:off x="548640" y="3611880"/>
            <a:ext cx="8686800" cy="731520"/>
          </a:xfrm>
          <a:prstGeom prst="rect">
            <a:avLst/>
          </a:prstGeom>
          <a:noFill/>
          <a:ln/>
        </p:spPr>
        <p:txBody>
          <a:bodyPr wrap="square"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A visual comparison of O(log n), O(n), O(n log n), O(n²), and O(2ⁿ) — and what each means for real-world scalability</a:t>
            </a:r>
            <a:endParaRPr lang="en-US" sz="1600" dirty="0"/>
          </a:p>
        </p:txBody>
      </p:sp>
      <p:sp>
        <p:nvSpPr>
          <p:cNvPr id="11" name="Shape 9"/>
          <p:cNvSpPr/>
          <p:nvPr/>
        </p:nvSpPr>
        <p:spPr>
          <a:xfrm>
            <a:off x="548640" y="4526280"/>
            <a:ext cx="2011680" cy="0"/>
          </a:xfrm>
          <a:prstGeom prst="line">
            <a:avLst/>
          </a:prstGeom>
          <a:noFill/>
          <a:ln w="38100">
            <a:solidFill>
              <a:srgbClr val="E8622C"/>
            </a:solidFill>
            <a:prstDash val="solid"/>
          </a:ln>
        </p:spPr>
      </p:sp>
      <p:sp>
        <p:nvSpPr>
          <p:cNvPr id="13" name="Text 11"/>
          <p:cNvSpPr/>
          <p:nvPr/>
        </p:nvSpPr>
        <p:spPr>
          <a:xfrm>
            <a:off x="11094415" y="6446520"/>
            <a:ext cx="822960" cy="274320"/>
          </a:xfrm>
          <a:prstGeom prst="rect">
            <a:avLst/>
          </a:prstGeom>
          <a:noFill/>
          <a:ln/>
        </p:spPr>
        <p:txBody>
          <a:bodyPr wrap="square" rtlCol="0" anchor="ctr"/>
          <a:lstStyle/>
          <a:p>
            <a:pPr marL="0" indent="0" algn="r">
              <a:buNone/>
            </a:pPr>
            <a:r>
              <a:rPr lang="en-US" sz="1000" dirty="0">
                <a:solidFill>
                  <a:srgbClr val="8891B5"/>
                </a:solidFill>
                <a:latin typeface="Calibri" pitchFamily="34" charset="0"/>
                <a:ea typeface="Calibri" pitchFamily="34" charset="-122"/>
                <a:cs typeface="Calibri" pitchFamily="34" charset="-120"/>
              </a:rPr>
              <a:t>1 / 10</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C"/>
        </a:solidFill>
        <a:effectLst/>
      </p:bgPr>
    </p:bg>
    <p:spTree>
      <p:nvGrpSpPr>
        <p:cNvPr id="1" name=""/>
        <p:cNvGrpSpPr/>
        <p:nvPr/>
      </p:nvGrpSpPr>
      <p:grpSpPr>
        <a:xfrm>
          <a:off x="0" y="0"/>
          <a:ext cx="0" cy="0"/>
          <a:chOff x="0" y="0"/>
          <a:chExt cx="0" cy="0"/>
        </a:xfrm>
      </p:grpSpPr>
      <p:sp>
        <p:nvSpPr>
          <p:cNvPr id="25" name="Text 23"/>
          <p:cNvSpPr/>
          <p:nvPr/>
        </p:nvSpPr>
        <p:spPr>
          <a:xfrm>
            <a:off x="11094415" y="6446520"/>
            <a:ext cx="822960" cy="274320"/>
          </a:xfrm>
          <a:prstGeom prst="rect">
            <a:avLst/>
          </a:prstGeom>
          <a:noFill/>
          <a:ln/>
        </p:spPr>
        <p:txBody>
          <a:bodyPr wrap="square" rtlCol="0" anchor="ctr"/>
          <a:lstStyle/>
          <a:p>
            <a:pPr marL="0" indent="0" algn="r">
              <a:buNone/>
            </a:pPr>
            <a:r>
              <a:rPr lang="en-US" sz="1000" dirty="0">
                <a:solidFill>
                  <a:srgbClr val="9AA3C2"/>
                </a:solidFill>
                <a:latin typeface="Calibri" pitchFamily="34" charset="0"/>
                <a:ea typeface="Calibri" pitchFamily="34" charset="-122"/>
                <a:cs typeface="Calibri" pitchFamily="34" charset="-120"/>
              </a:rPr>
              <a:t>2 / 10</a:t>
            </a:r>
            <a:endParaRPr lang="en-US" sz="1000" dirty="0"/>
          </a:p>
        </p:txBody>
      </p:sp>
      <p:sp>
        <p:nvSpPr>
          <p:cNvPr id="27" name="TextBox 26">
            <a:extLst>
              <a:ext uri="{FF2B5EF4-FFF2-40B4-BE49-F238E27FC236}">
                <a16:creationId xmlns:a16="http://schemas.microsoft.com/office/drawing/2014/main" id="{283EE0D1-F934-E225-EE6B-95B70E85BCB5}"/>
              </a:ext>
            </a:extLst>
          </p:cNvPr>
          <p:cNvSpPr txBox="1"/>
          <p:nvPr/>
        </p:nvSpPr>
        <p:spPr>
          <a:xfrm>
            <a:off x="839755" y="1287624"/>
            <a:ext cx="9899780" cy="1631216"/>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Growth Function:</a:t>
            </a:r>
          </a:p>
          <a:p>
            <a:r>
              <a:rPr lang="en-IN" sz="2000" dirty="0">
                <a:latin typeface="Times New Roman" panose="02020603050405020304" pitchFamily="18" charset="0"/>
                <a:cs typeface="Times New Roman" panose="02020603050405020304" pitchFamily="18" charset="0"/>
              </a:rPr>
              <a:t>A growth function describes how the running time or memory usage of an algorithm changes as the input size (n) increases. Instead of measuring the exact execution time, it focuses on the rate at which the algorithm grows, making it easier to compare different algorithms regardless of hardware or programming language.</a:t>
            </a:r>
          </a:p>
        </p:txBody>
      </p:sp>
      <p:sp>
        <p:nvSpPr>
          <p:cNvPr id="29" name="TextBox 28">
            <a:extLst>
              <a:ext uri="{FF2B5EF4-FFF2-40B4-BE49-F238E27FC236}">
                <a16:creationId xmlns:a16="http://schemas.microsoft.com/office/drawing/2014/main" id="{D1714508-0C83-28DF-E3F8-87AFD18BDAA5}"/>
              </a:ext>
            </a:extLst>
          </p:cNvPr>
          <p:cNvSpPr txBox="1"/>
          <p:nvPr/>
        </p:nvSpPr>
        <p:spPr>
          <a:xfrm>
            <a:off x="839755" y="684053"/>
            <a:ext cx="6097554" cy="400110"/>
          </a:xfrm>
          <a:prstGeom prst="rect">
            <a:avLst/>
          </a:prstGeom>
          <a:noFill/>
        </p:spPr>
        <p:txBody>
          <a:bodyPr wrap="square">
            <a:spAutoFit/>
          </a:bodyPr>
          <a:lstStyle/>
          <a:p>
            <a:pPr marL="0" indent="0">
              <a:buNone/>
            </a:pPr>
            <a:r>
              <a:rPr lang="en-US" sz="2000" b="1" kern="0" spc="200" dirty="0">
                <a:solidFill>
                  <a:srgbClr val="1E2761"/>
                </a:solidFill>
                <a:latin typeface="Times New Roman" panose="02020603050405020304" pitchFamily="18" charset="0"/>
                <a:ea typeface="Calibri" pitchFamily="34" charset="-122"/>
                <a:cs typeface="Times New Roman" panose="02020603050405020304" pitchFamily="18" charset="0"/>
              </a:rPr>
              <a:t>INTRODUCTION</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a:extLst>
            <a:ext uri="{FF2B5EF4-FFF2-40B4-BE49-F238E27FC236}">
              <a16:creationId xmlns:a16="http://schemas.microsoft.com/office/drawing/2014/main" id="{D1887F72-57A9-FBB6-855D-CD381834F1DD}"/>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E32B442C-C1B5-0417-EF32-ADD443F1C61E}"/>
              </a:ext>
            </a:extLst>
          </p:cNvPr>
          <p:cNvSpPr/>
          <p:nvPr/>
        </p:nvSpPr>
        <p:spPr>
          <a:xfrm>
            <a:off x="548640" y="713232"/>
            <a:ext cx="11094415" cy="685800"/>
          </a:xfrm>
          <a:prstGeom prst="rect">
            <a:avLst/>
          </a:prstGeom>
          <a:noFill/>
          <a:ln/>
        </p:spPr>
        <p:txBody>
          <a:bodyPr wrap="square" rtlCol="0" anchor="ctr"/>
          <a:lstStyle/>
          <a:p>
            <a:pPr marL="0" indent="0">
              <a:buNone/>
            </a:pPr>
            <a:r>
              <a:rPr lang="en-US" sz="3200" b="1" dirty="0">
                <a:solidFill>
                  <a:srgbClr val="141B49"/>
                </a:solidFill>
                <a:latin typeface="Times New Roman" panose="02020603050405020304" pitchFamily="18" charset="0"/>
                <a:ea typeface="Cambria" pitchFamily="34" charset="-122"/>
                <a:cs typeface="Times New Roman" panose="02020603050405020304" pitchFamily="18" charset="0"/>
              </a:rPr>
              <a:t>Why Compare Growth Functions?</a:t>
            </a:r>
            <a:endParaRPr lang="en-US" sz="3200"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028227A2-6747-F1C0-302C-CF5C8C669625}"/>
              </a:ext>
            </a:extLst>
          </p:cNvPr>
          <p:cNvSpPr/>
          <p:nvPr/>
        </p:nvSpPr>
        <p:spPr>
          <a:xfrm>
            <a:off x="548640" y="1508760"/>
            <a:ext cx="11094415" cy="777240"/>
          </a:xfrm>
          <a:prstGeom prst="rect">
            <a:avLst/>
          </a:prstGeom>
          <a:noFill/>
          <a:ln/>
        </p:spPr>
        <p:txBody>
          <a:bodyPr wrap="square" rtlCol="0" anchor="ctr"/>
          <a:lstStyle/>
          <a:p>
            <a:pPr marL="0" indent="0">
              <a:lnSpc>
                <a:spcPts val="2100"/>
              </a:lnSpc>
              <a:buNone/>
            </a:pPr>
            <a:r>
              <a:rPr lang="en-US" sz="1450" dirty="0">
                <a:solidFill>
                  <a:srgbClr val="5A6482"/>
                </a:solidFill>
                <a:latin typeface="Times New Roman" panose="02020603050405020304" pitchFamily="18" charset="0"/>
                <a:ea typeface="Calibri" pitchFamily="34" charset="-122"/>
                <a:cs typeface="Times New Roman" panose="02020603050405020304" pitchFamily="18" charset="0"/>
              </a:rPr>
              <a:t>Big-O notation describes how an algorithm's running time or memory use scales as input size (n) grows. Comparing growth functions strips away hardware and implementation noise, revealing which algorithms remain usable as data scales — and which quietly become unusable.</a:t>
            </a:r>
            <a:endParaRPr lang="en-US" sz="1450" dirty="0">
              <a:latin typeface="Times New Roman" panose="02020603050405020304" pitchFamily="18" charset="0"/>
              <a:cs typeface="Times New Roman" panose="02020603050405020304" pitchFamily="18" charset="0"/>
            </a:endParaRPr>
          </a:p>
        </p:txBody>
      </p:sp>
      <p:sp>
        <p:nvSpPr>
          <p:cNvPr id="5" name="Shape 3">
            <a:extLst>
              <a:ext uri="{FF2B5EF4-FFF2-40B4-BE49-F238E27FC236}">
                <a16:creationId xmlns:a16="http://schemas.microsoft.com/office/drawing/2014/main" id="{7ED961EF-3C0B-57AA-84D0-6704CF5F9F94}"/>
              </a:ext>
            </a:extLst>
          </p:cNvPr>
          <p:cNvSpPr/>
          <p:nvPr/>
        </p:nvSpPr>
        <p:spPr>
          <a:xfrm>
            <a:off x="548640" y="2606040"/>
            <a:ext cx="2362124" cy="3063240"/>
          </a:xfrm>
          <a:prstGeom prst="roundRect">
            <a:avLst>
              <a:gd name="adj" fmla="val 3097"/>
            </a:avLst>
          </a:prstGeom>
          <a:solidFill>
            <a:srgbClr val="FFFFFF"/>
          </a:solidFill>
          <a:ln w="12700">
            <a:solidFill>
              <a:srgbClr val="E1E5F5"/>
            </a:solidFill>
            <a:prstDash val="solid"/>
          </a:ln>
          <a:effectLst>
            <a:outerShdw blurRad="76200" dist="38100" dir="5400000" algn="bl" rotWithShape="0">
              <a:srgbClr val="1E2761">
                <a:alpha val="12000"/>
              </a:srgbClr>
            </a:outerShdw>
          </a:effectLst>
        </p:spPr>
      </p:sp>
      <p:sp>
        <p:nvSpPr>
          <p:cNvPr id="6" name="Shape 4">
            <a:extLst>
              <a:ext uri="{FF2B5EF4-FFF2-40B4-BE49-F238E27FC236}">
                <a16:creationId xmlns:a16="http://schemas.microsoft.com/office/drawing/2014/main" id="{DB2A0639-9081-EA83-B9A5-7A6C55DB39DB}"/>
              </a:ext>
            </a:extLst>
          </p:cNvPr>
          <p:cNvSpPr/>
          <p:nvPr/>
        </p:nvSpPr>
        <p:spPr>
          <a:xfrm>
            <a:off x="1437094" y="2926080"/>
            <a:ext cx="585216" cy="585216"/>
          </a:xfrm>
          <a:prstGeom prst="ellipse">
            <a:avLst/>
          </a:prstGeom>
          <a:solidFill>
            <a:srgbClr val="1E2761"/>
          </a:solidFill>
          <a:ln/>
        </p:spPr>
      </p:sp>
      <p:sp>
        <p:nvSpPr>
          <p:cNvPr id="7" name="Text 5">
            <a:extLst>
              <a:ext uri="{FF2B5EF4-FFF2-40B4-BE49-F238E27FC236}">
                <a16:creationId xmlns:a16="http://schemas.microsoft.com/office/drawing/2014/main" id="{06403070-E5F9-414B-5951-39B1F545C25F}"/>
              </a:ext>
            </a:extLst>
          </p:cNvPr>
          <p:cNvSpPr/>
          <p:nvPr/>
        </p:nvSpPr>
        <p:spPr>
          <a:xfrm>
            <a:off x="1437094" y="2926080"/>
            <a:ext cx="585216" cy="585216"/>
          </a:xfrm>
          <a:prstGeom prst="rect">
            <a:avLst/>
          </a:prstGeom>
          <a:noFill/>
          <a:ln/>
        </p:spPr>
        <p:txBody>
          <a:bodyPr wrap="square" rtlCol="0" anchor="ctr"/>
          <a:lstStyle/>
          <a:p>
            <a:pPr marL="0" indent="0" algn="ctr">
              <a:buNone/>
            </a:pPr>
            <a:r>
              <a:rPr lang="en-US" sz="1408" b="1" dirty="0">
                <a:solidFill>
                  <a:srgbClr val="FFFFFF"/>
                </a:solidFill>
                <a:latin typeface="Cambria" pitchFamily="34" charset="0"/>
                <a:ea typeface="Cambria" pitchFamily="34" charset="-122"/>
                <a:cs typeface="Cambria" pitchFamily="34" charset="-120"/>
              </a:rPr>
              <a:t>1</a:t>
            </a:r>
            <a:endParaRPr lang="en-US" sz="1408" dirty="0"/>
          </a:p>
        </p:txBody>
      </p:sp>
      <p:sp>
        <p:nvSpPr>
          <p:cNvPr id="8" name="Text 6">
            <a:extLst>
              <a:ext uri="{FF2B5EF4-FFF2-40B4-BE49-F238E27FC236}">
                <a16:creationId xmlns:a16="http://schemas.microsoft.com/office/drawing/2014/main" id="{14BCE571-9746-F280-908C-AAC7A0B16400}"/>
              </a:ext>
            </a:extLst>
          </p:cNvPr>
          <p:cNvSpPr/>
          <p:nvPr/>
        </p:nvSpPr>
        <p:spPr>
          <a:xfrm>
            <a:off x="713232" y="3703320"/>
            <a:ext cx="2032940" cy="457200"/>
          </a:xfrm>
          <a:prstGeom prst="rect">
            <a:avLst/>
          </a:prstGeom>
          <a:noFill/>
          <a:ln/>
        </p:spPr>
        <p:txBody>
          <a:bodyPr wrap="square" rtlCol="0" anchor="ctr"/>
          <a:lstStyle/>
          <a:p>
            <a:pPr marL="0" indent="0" algn="ctr">
              <a:buNone/>
            </a:pPr>
            <a:r>
              <a:rPr lang="en-US" sz="1450" b="1" dirty="0">
                <a:solidFill>
                  <a:srgbClr val="141B49"/>
                </a:solidFill>
                <a:latin typeface="Cambria" pitchFamily="34" charset="0"/>
                <a:ea typeface="Cambria" pitchFamily="34" charset="-122"/>
                <a:cs typeface="Cambria" pitchFamily="34" charset="-120"/>
              </a:rPr>
              <a:t>Predict Scalability</a:t>
            </a:r>
            <a:endParaRPr lang="en-US" sz="1450" dirty="0"/>
          </a:p>
        </p:txBody>
      </p:sp>
      <p:sp>
        <p:nvSpPr>
          <p:cNvPr id="9" name="Text 7">
            <a:extLst>
              <a:ext uri="{FF2B5EF4-FFF2-40B4-BE49-F238E27FC236}">
                <a16:creationId xmlns:a16="http://schemas.microsoft.com/office/drawing/2014/main" id="{FC50A4D2-3CD8-65B1-B55B-BF84ED92FDBF}"/>
              </a:ext>
            </a:extLst>
          </p:cNvPr>
          <p:cNvSpPr/>
          <p:nvPr/>
        </p:nvSpPr>
        <p:spPr>
          <a:xfrm>
            <a:off x="749808" y="4206240"/>
            <a:ext cx="1959788" cy="1280160"/>
          </a:xfrm>
          <a:prstGeom prst="rect">
            <a:avLst/>
          </a:prstGeom>
          <a:noFill/>
          <a:ln/>
        </p:spPr>
        <p:txBody>
          <a:bodyPr wrap="square" rtlCol="0" anchor="ctr"/>
          <a:lstStyle/>
          <a:p>
            <a:pPr marL="0" indent="0" algn="ctr">
              <a:lnSpc>
                <a:spcPts val="1500"/>
              </a:lnSpc>
              <a:buNone/>
            </a:pPr>
            <a:r>
              <a:rPr lang="en-US" sz="1400" dirty="0">
                <a:solidFill>
                  <a:schemeClr val="tx1">
                    <a:lumMod val="75000"/>
                    <a:lumOff val="25000"/>
                  </a:schemeClr>
                </a:solidFill>
                <a:latin typeface="Times New Roman" panose="02020603050405020304" pitchFamily="18" charset="0"/>
                <a:ea typeface="Calibri" pitchFamily="34" charset="-122"/>
                <a:cs typeface="Times New Roman" panose="02020603050405020304" pitchFamily="18" charset="0"/>
              </a:rPr>
              <a:t>Estimate how runtime changes before writing or running code, for any input size.</a:t>
            </a:r>
            <a:endParaRPr lang="en-US" sz="14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0" name="Shape 8">
            <a:extLst>
              <a:ext uri="{FF2B5EF4-FFF2-40B4-BE49-F238E27FC236}">
                <a16:creationId xmlns:a16="http://schemas.microsoft.com/office/drawing/2014/main" id="{EF5A4CD6-55F9-EF24-0E4A-7F112B63E45D}"/>
              </a:ext>
            </a:extLst>
          </p:cNvPr>
          <p:cNvSpPr/>
          <p:nvPr/>
        </p:nvSpPr>
        <p:spPr>
          <a:xfrm>
            <a:off x="3459404" y="2606040"/>
            <a:ext cx="2362124" cy="3063240"/>
          </a:xfrm>
          <a:prstGeom prst="roundRect">
            <a:avLst>
              <a:gd name="adj" fmla="val 3097"/>
            </a:avLst>
          </a:prstGeom>
          <a:solidFill>
            <a:srgbClr val="FFFFFF"/>
          </a:solidFill>
          <a:ln w="12700">
            <a:solidFill>
              <a:srgbClr val="E1E5F5"/>
            </a:solidFill>
            <a:prstDash val="solid"/>
          </a:ln>
          <a:effectLst>
            <a:outerShdw blurRad="76200" dist="38100" dir="5400000" algn="bl" rotWithShape="0">
              <a:srgbClr val="1E2761">
                <a:alpha val="12000"/>
              </a:srgbClr>
            </a:outerShdw>
          </a:effectLst>
        </p:spPr>
      </p:sp>
      <p:sp>
        <p:nvSpPr>
          <p:cNvPr id="11" name="Shape 9">
            <a:extLst>
              <a:ext uri="{FF2B5EF4-FFF2-40B4-BE49-F238E27FC236}">
                <a16:creationId xmlns:a16="http://schemas.microsoft.com/office/drawing/2014/main" id="{321E0C80-0EC9-59BF-B8ED-7D81E160EAD2}"/>
              </a:ext>
            </a:extLst>
          </p:cNvPr>
          <p:cNvSpPr/>
          <p:nvPr/>
        </p:nvSpPr>
        <p:spPr>
          <a:xfrm>
            <a:off x="4347858" y="2926080"/>
            <a:ext cx="585216" cy="585216"/>
          </a:xfrm>
          <a:prstGeom prst="ellipse">
            <a:avLst/>
          </a:prstGeom>
          <a:solidFill>
            <a:srgbClr val="2E9E6F"/>
          </a:solidFill>
          <a:ln/>
        </p:spPr>
      </p:sp>
      <p:sp>
        <p:nvSpPr>
          <p:cNvPr id="12" name="Text 10">
            <a:extLst>
              <a:ext uri="{FF2B5EF4-FFF2-40B4-BE49-F238E27FC236}">
                <a16:creationId xmlns:a16="http://schemas.microsoft.com/office/drawing/2014/main" id="{72E1CD70-0E4A-B187-F6C6-7222E044D4BC}"/>
              </a:ext>
            </a:extLst>
          </p:cNvPr>
          <p:cNvSpPr/>
          <p:nvPr/>
        </p:nvSpPr>
        <p:spPr>
          <a:xfrm>
            <a:off x="4347858" y="2926080"/>
            <a:ext cx="585216" cy="585216"/>
          </a:xfrm>
          <a:prstGeom prst="rect">
            <a:avLst/>
          </a:prstGeom>
          <a:noFill/>
          <a:ln/>
        </p:spPr>
        <p:txBody>
          <a:bodyPr wrap="square" rtlCol="0" anchor="ctr"/>
          <a:lstStyle/>
          <a:p>
            <a:pPr marL="0" indent="0" algn="ctr">
              <a:buNone/>
            </a:pPr>
            <a:r>
              <a:rPr lang="en-US" sz="1408" b="1" dirty="0">
                <a:solidFill>
                  <a:srgbClr val="FFFFFF"/>
                </a:solidFill>
                <a:latin typeface="Cambria" pitchFamily="34" charset="0"/>
                <a:ea typeface="Cambria" pitchFamily="34" charset="-122"/>
                <a:cs typeface="Cambria" pitchFamily="34" charset="-120"/>
              </a:rPr>
              <a:t>2</a:t>
            </a:r>
            <a:endParaRPr lang="en-US" sz="1408" dirty="0"/>
          </a:p>
        </p:txBody>
      </p:sp>
      <p:sp>
        <p:nvSpPr>
          <p:cNvPr id="13" name="Text 11">
            <a:extLst>
              <a:ext uri="{FF2B5EF4-FFF2-40B4-BE49-F238E27FC236}">
                <a16:creationId xmlns:a16="http://schemas.microsoft.com/office/drawing/2014/main" id="{592803DD-8A21-99AA-381B-C00CA3D4923A}"/>
              </a:ext>
            </a:extLst>
          </p:cNvPr>
          <p:cNvSpPr/>
          <p:nvPr/>
        </p:nvSpPr>
        <p:spPr>
          <a:xfrm>
            <a:off x="3623996" y="3703320"/>
            <a:ext cx="2032940" cy="457200"/>
          </a:xfrm>
          <a:prstGeom prst="rect">
            <a:avLst/>
          </a:prstGeom>
          <a:noFill/>
          <a:ln/>
        </p:spPr>
        <p:txBody>
          <a:bodyPr wrap="square" rtlCol="0" anchor="ctr"/>
          <a:lstStyle/>
          <a:p>
            <a:pPr marL="0" indent="0" algn="ctr">
              <a:buNone/>
            </a:pPr>
            <a:r>
              <a:rPr lang="en-US" sz="1450" b="1" dirty="0">
                <a:solidFill>
                  <a:srgbClr val="141B49"/>
                </a:solidFill>
                <a:latin typeface="Cambria" pitchFamily="34" charset="0"/>
                <a:ea typeface="Cambria" pitchFamily="34" charset="-122"/>
                <a:cs typeface="Cambria" pitchFamily="34" charset="-120"/>
              </a:rPr>
              <a:t>Compare Fairly</a:t>
            </a:r>
            <a:endParaRPr lang="en-US" sz="1450" dirty="0"/>
          </a:p>
        </p:txBody>
      </p:sp>
      <p:sp>
        <p:nvSpPr>
          <p:cNvPr id="14" name="Text 12">
            <a:extLst>
              <a:ext uri="{FF2B5EF4-FFF2-40B4-BE49-F238E27FC236}">
                <a16:creationId xmlns:a16="http://schemas.microsoft.com/office/drawing/2014/main" id="{5F104D84-6479-94B7-4B8F-FE993C4E2D06}"/>
              </a:ext>
            </a:extLst>
          </p:cNvPr>
          <p:cNvSpPr/>
          <p:nvPr/>
        </p:nvSpPr>
        <p:spPr>
          <a:xfrm>
            <a:off x="3660572" y="4206240"/>
            <a:ext cx="1959788" cy="1280160"/>
          </a:xfrm>
          <a:prstGeom prst="rect">
            <a:avLst/>
          </a:prstGeom>
          <a:noFill/>
          <a:ln/>
        </p:spPr>
        <p:txBody>
          <a:bodyPr wrap="square" rtlCol="0" anchor="ctr"/>
          <a:lstStyle/>
          <a:p>
            <a:pPr marL="0" indent="0" algn="ctr">
              <a:lnSpc>
                <a:spcPts val="1500"/>
              </a:lnSpc>
              <a:buNone/>
            </a:pPr>
            <a:r>
              <a:rPr lang="en-US" sz="1150" dirty="0">
                <a:solidFill>
                  <a:srgbClr val="5A6482"/>
                </a:solidFill>
                <a:latin typeface="Calibri" pitchFamily="34" charset="0"/>
                <a:ea typeface="Calibri" pitchFamily="34" charset="-122"/>
                <a:cs typeface="Calibri" pitchFamily="34" charset="-120"/>
              </a:rPr>
              <a:t>Judge algorithms on structure, independent of processor speed or programming language.</a:t>
            </a:r>
            <a:endParaRPr lang="en-US" sz="1150" dirty="0"/>
          </a:p>
        </p:txBody>
      </p:sp>
      <p:sp>
        <p:nvSpPr>
          <p:cNvPr id="15" name="Shape 13">
            <a:extLst>
              <a:ext uri="{FF2B5EF4-FFF2-40B4-BE49-F238E27FC236}">
                <a16:creationId xmlns:a16="http://schemas.microsoft.com/office/drawing/2014/main" id="{6DCEFA9C-40C7-0D79-0231-DD9278B24518}"/>
              </a:ext>
            </a:extLst>
          </p:cNvPr>
          <p:cNvSpPr/>
          <p:nvPr/>
        </p:nvSpPr>
        <p:spPr>
          <a:xfrm>
            <a:off x="6370168" y="2606040"/>
            <a:ext cx="2362124" cy="3063240"/>
          </a:xfrm>
          <a:prstGeom prst="roundRect">
            <a:avLst>
              <a:gd name="adj" fmla="val 3097"/>
            </a:avLst>
          </a:prstGeom>
          <a:solidFill>
            <a:srgbClr val="FFFFFF"/>
          </a:solidFill>
          <a:ln w="12700">
            <a:solidFill>
              <a:srgbClr val="E1E5F5"/>
            </a:solidFill>
            <a:prstDash val="solid"/>
          </a:ln>
          <a:effectLst>
            <a:outerShdw blurRad="76200" dist="38100" dir="5400000" algn="bl" rotWithShape="0">
              <a:srgbClr val="1E2761">
                <a:alpha val="12000"/>
              </a:srgbClr>
            </a:outerShdw>
          </a:effectLst>
        </p:spPr>
      </p:sp>
      <p:sp>
        <p:nvSpPr>
          <p:cNvPr id="16" name="Shape 14">
            <a:extLst>
              <a:ext uri="{FF2B5EF4-FFF2-40B4-BE49-F238E27FC236}">
                <a16:creationId xmlns:a16="http://schemas.microsoft.com/office/drawing/2014/main" id="{7DBFC8F3-1115-6BE3-4F8B-5EA6A6434BA0}"/>
              </a:ext>
            </a:extLst>
          </p:cNvPr>
          <p:cNvSpPr/>
          <p:nvPr/>
        </p:nvSpPr>
        <p:spPr>
          <a:xfrm>
            <a:off x="7258622" y="2926080"/>
            <a:ext cx="585216" cy="585216"/>
          </a:xfrm>
          <a:prstGeom prst="ellipse">
            <a:avLst/>
          </a:prstGeom>
          <a:solidFill>
            <a:srgbClr val="E8622C"/>
          </a:solidFill>
          <a:ln/>
        </p:spPr>
      </p:sp>
      <p:sp>
        <p:nvSpPr>
          <p:cNvPr id="17" name="Text 15">
            <a:extLst>
              <a:ext uri="{FF2B5EF4-FFF2-40B4-BE49-F238E27FC236}">
                <a16:creationId xmlns:a16="http://schemas.microsoft.com/office/drawing/2014/main" id="{BFAF717E-3BE1-C850-FA71-D8CFC274B766}"/>
              </a:ext>
            </a:extLst>
          </p:cNvPr>
          <p:cNvSpPr/>
          <p:nvPr/>
        </p:nvSpPr>
        <p:spPr>
          <a:xfrm>
            <a:off x="7258622" y="2926080"/>
            <a:ext cx="585216" cy="585216"/>
          </a:xfrm>
          <a:prstGeom prst="rect">
            <a:avLst/>
          </a:prstGeom>
          <a:noFill/>
          <a:ln/>
        </p:spPr>
        <p:txBody>
          <a:bodyPr wrap="square" rtlCol="0" anchor="ctr"/>
          <a:lstStyle/>
          <a:p>
            <a:pPr marL="0" indent="0" algn="ctr">
              <a:buNone/>
            </a:pPr>
            <a:r>
              <a:rPr lang="en-US" sz="1408" b="1" dirty="0">
                <a:solidFill>
                  <a:srgbClr val="FFFFFF"/>
                </a:solidFill>
                <a:latin typeface="Cambria" pitchFamily="34" charset="0"/>
                <a:ea typeface="Cambria" pitchFamily="34" charset="-122"/>
                <a:cs typeface="Cambria" pitchFamily="34" charset="-120"/>
              </a:rPr>
              <a:t>3</a:t>
            </a:r>
            <a:endParaRPr lang="en-US" sz="1408" dirty="0"/>
          </a:p>
        </p:txBody>
      </p:sp>
      <p:sp>
        <p:nvSpPr>
          <p:cNvPr id="18" name="Text 16">
            <a:extLst>
              <a:ext uri="{FF2B5EF4-FFF2-40B4-BE49-F238E27FC236}">
                <a16:creationId xmlns:a16="http://schemas.microsoft.com/office/drawing/2014/main" id="{85F0D344-FE30-A78B-ECBF-CF5113BE0A80}"/>
              </a:ext>
            </a:extLst>
          </p:cNvPr>
          <p:cNvSpPr/>
          <p:nvPr/>
        </p:nvSpPr>
        <p:spPr>
          <a:xfrm>
            <a:off x="6534760" y="3703320"/>
            <a:ext cx="2032940" cy="457200"/>
          </a:xfrm>
          <a:prstGeom prst="rect">
            <a:avLst/>
          </a:prstGeom>
          <a:noFill/>
          <a:ln/>
        </p:spPr>
        <p:txBody>
          <a:bodyPr wrap="square" rtlCol="0" anchor="ctr"/>
          <a:lstStyle/>
          <a:p>
            <a:pPr marL="0" indent="0" algn="ctr">
              <a:buNone/>
            </a:pPr>
            <a:r>
              <a:rPr lang="en-US" sz="1450" b="1" dirty="0">
                <a:solidFill>
                  <a:srgbClr val="141B49"/>
                </a:solidFill>
                <a:latin typeface="Cambria" pitchFamily="34" charset="0"/>
                <a:ea typeface="Cambria" pitchFamily="34" charset="-122"/>
                <a:cs typeface="Cambria" pitchFamily="34" charset="-120"/>
              </a:rPr>
              <a:t>Guide Selection</a:t>
            </a:r>
            <a:endParaRPr lang="en-US" sz="1450" dirty="0"/>
          </a:p>
        </p:txBody>
      </p:sp>
      <p:sp>
        <p:nvSpPr>
          <p:cNvPr id="19" name="Text 17">
            <a:extLst>
              <a:ext uri="{FF2B5EF4-FFF2-40B4-BE49-F238E27FC236}">
                <a16:creationId xmlns:a16="http://schemas.microsoft.com/office/drawing/2014/main" id="{AFA6C91C-63CA-3F93-DDE6-7B48579272D0}"/>
              </a:ext>
            </a:extLst>
          </p:cNvPr>
          <p:cNvSpPr/>
          <p:nvPr/>
        </p:nvSpPr>
        <p:spPr>
          <a:xfrm>
            <a:off x="6571336" y="4206240"/>
            <a:ext cx="1959788" cy="1280160"/>
          </a:xfrm>
          <a:prstGeom prst="rect">
            <a:avLst/>
          </a:prstGeom>
          <a:noFill/>
          <a:ln/>
        </p:spPr>
        <p:txBody>
          <a:bodyPr wrap="square" rtlCol="0" anchor="ctr"/>
          <a:lstStyle/>
          <a:p>
            <a:pPr marL="0" indent="0" algn="ctr">
              <a:lnSpc>
                <a:spcPts val="1500"/>
              </a:lnSpc>
              <a:buNone/>
            </a:pPr>
            <a:r>
              <a:rPr lang="en-US" sz="1150" dirty="0">
                <a:solidFill>
                  <a:srgbClr val="5A6482"/>
                </a:solidFill>
                <a:latin typeface="Calibri" pitchFamily="34" charset="0"/>
                <a:ea typeface="Calibri" pitchFamily="34" charset="-122"/>
                <a:cs typeface="Calibri" pitchFamily="34" charset="-120"/>
              </a:rPr>
              <a:t>Choose the right algorithm for the expected data scale of a real system.</a:t>
            </a:r>
            <a:endParaRPr lang="en-US" sz="1150" dirty="0"/>
          </a:p>
        </p:txBody>
      </p:sp>
      <p:sp>
        <p:nvSpPr>
          <p:cNvPr id="20" name="Shape 18">
            <a:extLst>
              <a:ext uri="{FF2B5EF4-FFF2-40B4-BE49-F238E27FC236}">
                <a16:creationId xmlns:a16="http://schemas.microsoft.com/office/drawing/2014/main" id="{136CBBC4-F8BB-6971-F3D9-24640580A9E7}"/>
              </a:ext>
            </a:extLst>
          </p:cNvPr>
          <p:cNvSpPr/>
          <p:nvPr/>
        </p:nvSpPr>
        <p:spPr>
          <a:xfrm>
            <a:off x="9280931" y="2606040"/>
            <a:ext cx="2362124" cy="3063240"/>
          </a:xfrm>
          <a:prstGeom prst="roundRect">
            <a:avLst>
              <a:gd name="adj" fmla="val 3097"/>
            </a:avLst>
          </a:prstGeom>
          <a:solidFill>
            <a:srgbClr val="FFFFFF"/>
          </a:solidFill>
          <a:ln w="12700">
            <a:solidFill>
              <a:srgbClr val="E1E5F5"/>
            </a:solidFill>
            <a:prstDash val="solid"/>
          </a:ln>
          <a:effectLst>
            <a:outerShdw blurRad="76200" dist="38100" dir="5400000" algn="bl" rotWithShape="0">
              <a:srgbClr val="1E2761">
                <a:alpha val="12000"/>
              </a:srgbClr>
            </a:outerShdw>
          </a:effectLst>
        </p:spPr>
      </p:sp>
      <p:sp>
        <p:nvSpPr>
          <p:cNvPr id="21" name="Shape 19">
            <a:extLst>
              <a:ext uri="{FF2B5EF4-FFF2-40B4-BE49-F238E27FC236}">
                <a16:creationId xmlns:a16="http://schemas.microsoft.com/office/drawing/2014/main" id="{C42C5AF6-14B3-7D61-B33E-70ED1418E09A}"/>
              </a:ext>
            </a:extLst>
          </p:cNvPr>
          <p:cNvSpPr/>
          <p:nvPr/>
        </p:nvSpPr>
        <p:spPr>
          <a:xfrm>
            <a:off x="10169385" y="2926080"/>
            <a:ext cx="585216" cy="585216"/>
          </a:xfrm>
          <a:prstGeom prst="ellipse">
            <a:avLst/>
          </a:prstGeom>
          <a:solidFill>
            <a:srgbClr val="5A6482"/>
          </a:solidFill>
          <a:ln/>
        </p:spPr>
      </p:sp>
      <p:sp>
        <p:nvSpPr>
          <p:cNvPr id="22" name="Text 20">
            <a:extLst>
              <a:ext uri="{FF2B5EF4-FFF2-40B4-BE49-F238E27FC236}">
                <a16:creationId xmlns:a16="http://schemas.microsoft.com/office/drawing/2014/main" id="{E58930B1-E58C-0AAC-63FF-DF4F452A553D}"/>
              </a:ext>
            </a:extLst>
          </p:cNvPr>
          <p:cNvSpPr/>
          <p:nvPr/>
        </p:nvSpPr>
        <p:spPr>
          <a:xfrm>
            <a:off x="10169385" y="2926080"/>
            <a:ext cx="585216" cy="585216"/>
          </a:xfrm>
          <a:prstGeom prst="rect">
            <a:avLst/>
          </a:prstGeom>
          <a:noFill/>
          <a:ln/>
        </p:spPr>
        <p:txBody>
          <a:bodyPr wrap="square" rtlCol="0" anchor="ctr"/>
          <a:lstStyle/>
          <a:p>
            <a:pPr marL="0" indent="0" algn="ctr">
              <a:buNone/>
            </a:pPr>
            <a:r>
              <a:rPr lang="en-US" sz="1408" b="1" dirty="0">
                <a:solidFill>
                  <a:srgbClr val="FFFFFF"/>
                </a:solidFill>
                <a:latin typeface="Cambria" pitchFamily="34" charset="0"/>
                <a:ea typeface="Cambria" pitchFamily="34" charset="-122"/>
                <a:cs typeface="Cambria" pitchFamily="34" charset="-120"/>
              </a:rPr>
              <a:t>4</a:t>
            </a:r>
            <a:endParaRPr lang="en-US" sz="1408" dirty="0"/>
          </a:p>
        </p:txBody>
      </p:sp>
      <p:sp>
        <p:nvSpPr>
          <p:cNvPr id="23" name="Text 21">
            <a:extLst>
              <a:ext uri="{FF2B5EF4-FFF2-40B4-BE49-F238E27FC236}">
                <a16:creationId xmlns:a16="http://schemas.microsoft.com/office/drawing/2014/main" id="{E35CFEF2-2132-0CAF-6C9A-96D53B77B5C9}"/>
              </a:ext>
            </a:extLst>
          </p:cNvPr>
          <p:cNvSpPr/>
          <p:nvPr/>
        </p:nvSpPr>
        <p:spPr>
          <a:xfrm>
            <a:off x="9445523" y="3703320"/>
            <a:ext cx="2032940" cy="457200"/>
          </a:xfrm>
          <a:prstGeom prst="rect">
            <a:avLst/>
          </a:prstGeom>
          <a:noFill/>
          <a:ln/>
        </p:spPr>
        <p:txBody>
          <a:bodyPr wrap="square" rtlCol="0" anchor="ctr"/>
          <a:lstStyle/>
          <a:p>
            <a:pPr marL="0" indent="0" algn="ctr">
              <a:buNone/>
            </a:pPr>
            <a:r>
              <a:rPr lang="en-US" sz="1450" b="1" dirty="0">
                <a:solidFill>
                  <a:srgbClr val="141B49"/>
                </a:solidFill>
                <a:latin typeface="Cambria" pitchFamily="34" charset="0"/>
                <a:ea typeface="Cambria" pitchFamily="34" charset="-122"/>
                <a:cs typeface="Cambria" pitchFamily="34" charset="-120"/>
              </a:rPr>
              <a:t>Avoid Failure at Scale</a:t>
            </a:r>
            <a:endParaRPr lang="en-US" sz="1450" dirty="0"/>
          </a:p>
        </p:txBody>
      </p:sp>
      <p:sp>
        <p:nvSpPr>
          <p:cNvPr id="24" name="Text 22">
            <a:extLst>
              <a:ext uri="{FF2B5EF4-FFF2-40B4-BE49-F238E27FC236}">
                <a16:creationId xmlns:a16="http://schemas.microsoft.com/office/drawing/2014/main" id="{42D3215F-280F-CED8-9BED-EDFF7DBFCAD5}"/>
              </a:ext>
            </a:extLst>
          </p:cNvPr>
          <p:cNvSpPr/>
          <p:nvPr/>
        </p:nvSpPr>
        <p:spPr>
          <a:xfrm>
            <a:off x="9482099" y="4206240"/>
            <a:ext cx="1959788" cy="1280160"/>
          </a:xfrm>
          <a:prstGeom prst="rect">
            <a:avLst/>
          </a:prstGeom>
          <a:noFill/>
          <a:ln/>
        </p:spPr>
        <p:txBody>
          <a:bodyPr wrap="square" rtlCol="0" anchor="ctr"/>
          <a:lstStyle/>
          <a:p>
            <a:pPr marL="0" indent="0" algn="ctr">
              <a:lnSpc>
                <a:spcPts val="1500"/>
              </a:lnSpc>
              <a:buNone/>
            </a:pPr>
            <a:r>
              <a:rPr lang="en-US" sz="1150" dirty="0">
                <a:solidFill>
                  <a:srgbClr val="5A6482"/>
                </a:solidFill>
                <a:latin typeface="Calibri" pitchFamily="34" charset="0"/>
                <a:ea typeface="Calibri" pitchFamily="34" charset="-122"/>
                <a:cs typeface="Calibri" pitchFamily="34" charset="-120"/>
              </a:rPr>
              <a:t>Catch designs that work in testing but collapse once n reaches production size.</a:t>
            </a:r>
            <a:endParaRPr lang="en-US" sz="1150" dirty="0"/>
          </a:p>
        </p:txBody>
      </p:sp>
      <p:sp>
        <p:nvSpPr>
          <p:cNvPr id="25" name="Text 23">
            <a:extLst>
              <a:ext uri="{FF2B5EF4-FFF2-40B4-BE49-F238E27FC236}">
                <a16:creationId xmlns:a16="http://schemas.microsoft.com/office/drawing/2014/main" id="{5FD6B8B3-5489-7C21-70C9-9D34F09B5B56}"/>
              </a:ext>
            </a:extLst>
          </p:cNvPr>
          <p:cNvSpPr/>
          <p:nvPr/>
        </p:nvSpPr>
        <p:spPr>
          <a:xfrm>
            <a:off x="11094415" y="6446520"/>
            <a:ext cx="822960" cy="274320"/>
          </a:xfrm>
          <a:prstGeom prst="rect">
            <a:avLst/>
          </a:prstGeom>
          <a:noFill/>
          <a:ln/>
        </p:spPr>
        <p:txBody>
          <a:bodyPr wrap="square" rtlCol="0" anchor="ctr"/>
          <a:lstStyle/>
          <a:p>
            <a:pPr marL="0" indent="0" algn="r">
              <a:buNone/>
            </a:pPr>
            <a:r>
              <a:rPr lang="en-US" sz="1000" dirty="0">
                <a:solidFill>
                  <a:srgbClr val="9AA3C2"/>
                </a:solidFill>
                <a:latin typeface="Calibri" pitchFamily="34" charset="0"/>
                <a:ea typeface="Calibri" pitchFamily="34" charset="-122"/>
                <a:cs typeface="Calibri" pitchFamily="34" charset="-120"/>
              </a:rPr>
              <a:t>2 / 10</a:t>
            </a:r>
            <a:endParaRPr lang="en-US" sz="1000" dirty="0"/>
          </a:p>
        </p:txBody>
      </p:sp>
    </p:spTree>
    <p:extLst>
      <p:ext uri="{BB962C8B-B14F-4D97-AF65-F5344CB8AC3E}">
        <p14:creationId xmlns:p14="http://schemas.microsoft.com/office/powerpoint/2010/main" val="1027101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THE FIVE FUNCTIONS</a:t>
            </a:r>
            <a:endParaRPr lang="en-US" sz="1200" dirty="0"/>
          </a:p>
        </p:txBody>
      </p:sp>
      <p:sp>
        <p:nvSpPr>
          <p:cNvPr id="3" name="Text 1"/>
          <p:cNvSpPr/>
          <p:nvPr/>
        </p:nvSpPr>
        <p:spPr>
          <a:xfrm>
            <a:off x="548640" y="713232"/>
            <a:ext cx="11094415" cy="685800"/>
          </a:xfrm>
          <a:prstGeom prst="rect">
            <a:avLst/>
          </a:prstGeom>
          <a:noFill/>
          <a:ln/>
        </p:spPr>
        <p:txBody>
          <a:bodyPr wrap="square" rtlCol="0" anchor="ctr"/>
          <a:lstStyle/>
          <a:p>
            <a:pPr marL="0" indent="0">
              <a:buNone/>
            </a:pPr>
            <a:r>
              <a:rPr lang="en-US" sz="3200" b="1" dirty="0">
                <a:solidFill>
                  <a:srgbClr val="141B49"/>
                </a:solidFill>
                <a:latin typeface="Cambria" pitchFamily="34" charset="0"/>
                <a:ea typeface="Cambria" pitchFamily="34" charset="-122"/>
                <a:cs typeface="Cambria" pitchFamily="34" charset="-120"/>
              </a:rPr>
              <a:t>Growth Functions at a Glance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0424160" cy="3950208"/>
        </p:xfrm>
        <a:graphic>
          <a:graphicData uri="http://schemas.openxmlformats.org/drawingml/2006/table">
            <a:tbl>
              <a:tblPr/>
              <a:tblGrid>
                <a:gridCol w="17373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4416552">
                  <a:extLst>
                    <a:ext uri="{9D8B030D-6E8A-4147-A177-3AD203B41FA5}">
                      <a16:colId xmlns:a16="http://schemas.microsoft.com/office/drawing/2014/main" val="20002"/>
                    </a:ext>
                  </a:extLst>
                </a:gridCol>
                <a:gridCol w="2075688">
                  <a:extLst>
                    <a:ext uri="{9D8B030D-6E8A-4147-A177-3AD203B41FA5}">
                      <a16:colId xmlns:a16="http://schemas.microsoft.com/office/drawing/2014/main" val="20003"/>
                    </a:ext>
                  </a:extLst>
                </a:gridCol>
              </a:tblGrid>
              <a:tr h="658368">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Notation</a:t>
                      </a:r>
                      <a:endParaRPr lang="en-US" sz="130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1E2761"/>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Name</a:t>
                      </a:r>
                      <a:endParaRPr lang="en-US" sz="130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1E2761"/>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Typical Algorithm</a:t>
                      </a:r>
                      <a:endParaRPr lang="en-US" sz="130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1E2761"/>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Category</a:t>
                      </a:r>
                      <a:endParaRPr lang="en-US" sz="130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658368">
                <a:tc>
                  <a:txBody>
                    <a:bodyPr/>
                    <a:lstStyle/>
                    <a:p>
                      <a:pPr marL="0" indent="0">
                        <a:buNone/>
                      </a:pPr>
                      <a:r>
                        <a:rPr lang="en-US" sz="1400" b="1" dirty="0">
                          <a:solidFill>
                            <a:srgbClr val="141B49"/>
                          </a:solidFill>
                          <a:latin typeface="Cambria" pitchFamily="34" charset="0"/>
                          <a:ea typeface="Cambria" pitchFamily="34" charset="-122"/>
                          <a:cs typeface="Cambria" pitchFamily="34" charset="-120"/>
                        </a:rPr>
                        <a:t>O(log n)</a:t>
                      </a:r>
                      <a:endParaRPr lang="en-US" sz="1400" dirty="0">
                        <a:latin typeface="Cambria" charset="0"/>
                        <a:ea typeface="Cambria" charset="0"/>
                        <a:cs typeface="Cambria"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c>
                  <a:txBody>
                    <a:bodyPr/>
                    <a:lstStyle/>
                    <a:p>
                      <a:pPr marL="0" indent="0">
                        <a:buNone/>
                      </a:pPr>
                      <a:r>
                        <a:rPr lang="en-US" sz="1300" dirty="0">
                          <a:solidFill>
                            <a:srgbClr val="5A6482"/>
                          </a:solidFill>
                          <a:latin typeface="Calibri" pitchFamily="34" charset="0"/>
                          <a:ea typeface="Calibri" pitchFamily="34" charset="-122"/>
                          <a:cs typeface="Calibri" pitchFamily="34" charset="-120"/>
                        </a:rPr>
                        <a:t>Logarithmic</a:t>
                      </a:r>
                      <a:endParaRPr lang="en-US" sz="130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c>
                  <a:txBody>
                    <a:bodyPr/>
                    <a:lstStyle/>
                    <a:p>
                      <a:pPr marL="0" indent="0">
                        <a:buNone/>
                      </a:pPr>
                      <a:r>
                        <a:rPr lang="en-US" sz="1300" dirty="0">
                          <a:solidFill>
                            <a:srgbClr val="5A6482"/>
                          </a:solidFill>
                          <a:latin typeface="Calibri" pitchFamily="34" charset="0"/>
                          <a:ea typeface="Calibri" pitchFamily="34" charset="-122"/>
                          <a:cs typeface="Calibri" pitchFamily="34" charset="-120"/>
                        </a:rPr>
                        <a:t>Binary search</a:t>
                      </a:r>
                      <a:endParaRPr lang="en-US" sz="130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c>
                  <a:txBody>
                    <a:bodyPr/>
                    <a:lstStyle/>
                    <a:p>
                      <a:pPr marL="0" indent="0">
                        <a:buNone/>
                      </a:pPr>
                      <a:r>
                        <a:rPr lang="en-US" sz="1300" b="1" dirty="0">
                          <a:solidFill>
                            <a:srgbClr val="2E9E6F"/>
                          </a:solidFill>
                          <a:latin typeface="Calibri" pitchFamily="34" charset="0"/>
                          <a:ea typeface="Calibri" pitchFamily="34" charset="-122"/>
                          <a:cs typeface="Calibri" pitchFamily="34" charset="-120"/>
                        </a:rPr>
                        <a:t>Excellent</a:t>
                      </a:r>
                      <a:endParaRPr lang="en-US" sz="130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400" b="1" dirty="0">
                          <a:solidFill>
                            <a:srgbClr val="141B49"/>
                          </a:solidFill>
                          <a:latin typeface="Cambria" pitchFamily="34" charset="0"/>
                          <a:ea typeface="Cambria" pitchFamily="34" charset="-122"/>
                          <a:cs typeface="Cambria" pitchFamily="34" charset="-120"/>
                        </a:rPr>
                        <a:t>O(n)</a:t>
                      </a:r>
                      <a:endParaRPr lang="en-US" sz="1400" dirty="0">
                        <a:latin typeface="Cambria" charset="0"/>
                        <a:ea typeface="Cambria" charset="0"/>
                        <a:cs typeface="Cambria"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EF1FB"/>
                    </a:solidFill>
                  </a:tcPr>
                </a:tc>
                <a:tc>
                  <a:txBody>
                    <a:bodyPr/>
                    <a:lstStyle/>
                    <a:p>
                      <a:pPr marL="0" indent="0">
                        <a:buNone/>
                      </a:pPr>
                      <a:r>
                        <a:rPr lang="en-US" sz="1300" dirty="0">
                          <a:solidFill>
                            <a:srgbClr val="5A6482"/>
                          </a:solidFill>
                          <a:latin typeface="Calibri" pitchFamily="34" charset="0"/>
                          <a:ea typeface="Calibri" pitchFamily="34" charset="-122"/>
                          <a:cs typeface="Calibri" pitchFamily="34" charset="-120"/>
                        </a:rPr>
                        <a:t>Linear</a:t>
                      </a:r>
                      <a:endParaRPr lang="en-US" sz="130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EF1FB"/>
                    </a:solidFill>
                  </a:tcPr>
                </a:tc>
                <a:tc>
                  <a:txBody>
                    <a:bodyPr/>
                    <a:lstStyle/>
                    <a:p>
                      <a:pPr marL="0" indent="0">
                        <a:buNone/>
                      </a:pPr>
                      <a:r>
                        <a:rPr lang="en-US" sz="1300" dirty="0">
                          <a:solidFill>
                            <a:srgbClr val="5A6482"/>
                          </a:solidFill>
                          <a:latin typeface="Calibri" pitchFamily="34" charset="0"/>
                          <a:ea typeface="Calibri" pitchFamily="34" charset="-122"/>
                          <a:cs typeface="Calibri" pitchFamily="34" charset="-120"/>
                        </a:rPr>
                        <a:t>Linear search, array scan</a:t>
                      </a:r>
                      <a:endParaRPr lang="en-US" sz="130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EF1FB"/>
                    </a:solidFill>
                  </a:tcPr>
                </a:tc>
                <a:tc>
                  <a:txBody>
                    <a:bodyPr/>
                    <a:lstStyle/>
                    <a:p>
                      <a:pPr marL="0" indent="0">
                        <a:buNone/>
                      </a:pPr>
                      <a:r>
                        <a:rPr lang="en-US" sz="1300" b="1" dirty="0">
                          <a:solidFill>
                            <a:srgbClr val="2E9E6F"/>
                          </a:solidFill>
                          <a:latin typeface="Calibri" pitchFamily="34" charset="0"/>
                          <a:ea typeface="Calibri" pitchFamily="34" charset="-122"/>
                          <a:cs typeface="Calibri" pitchFamily="34" charset="-120"/>
                        </a:rPr>
                        <a:t>Very Good</a:t>
                      </a:r>
                      <a:endParaRPr lang="en-US" sz="130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EF1FB"/>
                    </a:solidFill>
                  </a:tcPr>
                </a:tc>
                <a:extLst>
                  <a:ext uri="{0D108BD9-81ED-4DB2-BD59-A6C34878D82A}">
                    <a16:rowId xmlns:a16="http://schemas.microsoft.com/office/drawing/2014/main" val="10002"/>
                  </a:ext>
                </a:extLst>
              </a:tr>
              <a:tr h="658368">
                <a:tc>
                  <a:txBody>
                    <a:bodyPr/>
                    <a:lstStyle/>
                    <a:p>
                      <a:pPr marL="0" indent="0">
                        <a:buNone/>
                      </a:pPr>
                      <a:r>
                        <a:rPr lang="en-US" sz="1400" b="1" dirty="0">
                          <a:solidFill>
                            <a:srgbClr val="141B49"/>
                          </a:solidFill>
                          <a:latin typeface="Cambria" pitchFamily="34" charset="0"/>
                          <a:ea typeface="Cambria" pitchFamily="34" charset="-122"/>
                          <a:cs typeface="Cambria" pitchFamily="34" charset="-120"/>
                        </a:rPr>
                        <a:t>O(n log n)</a:t>
                      </a:r>
                      <a:endParaRPr lang="en-US" sz="1400" dirty="0">
                        <a:latin typeface="Cambria" charset="0"/>
                        <a:ea typeface="Cambria" charset="0"/>
                        <a:cs typeface="Cambria"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c>
                  <a:txBody>
                    <a:bodyPr/>
                    <a:lstStyle/>
                    <a:p>
                      <a:pPr marL="0" indent="0">
                        <a:buNone/>
                      </a:pPr>
                      <a:r>
                        <a:rPr lang="en-US" sz="1300" dirty="0">
                          <a:solidFill>
                            <a:srgbClr val="5A6482"/>
                          </a:solidFill>
                          <a:latin typeface="Calibri" pitchFamily="34" charset="0"/>
                          <a:ea typeface="Calibri" pitchFamily="34" charset="-122"/>
                          <a:cs typeface="Calibri" pitchFamily="34" charset="-120"/>
                        </a:rPr>
                        <a:t>Linearithmic</a:t>
                      </a:r>
                      <a:endParaRPr lang="en-US" sz="130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c>
                  <a:txBody>
                    <a:bodyPr/>
                    <a:lstStyle/>
                    <a:p>
                      <a:pPr marL="0" indent="0">
                        <a:buNone/>
                      </a:pPr>
                      <a:r>
                        <a:rPr lang="en-US" sz="1300" dirty="0">
                          <a:solidFill>
                            <a:srgbClr val="5A6482"/>
                          </a:solidFill>
                          <a:latin typeface="Calibri" pitchFamily="34" charset="0"/>
                          <a:ea typeface="Calibri" pitchFamily="34" charset="-122"/>
                          <a:cs typeface="Calibri" pitchFamily="34" charset="-120"/>
                        </a:rPr>
                        <a:t>Merge sort, quicksort (avg)</a:t>
                      </a:r>
                      <a:endParaRPr lang="en-US" sz="130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c>
                  <a:txBody>
                    <a:bodyPr/>
                    <a:lstStyle/>
                    <a:p>
                      <a:pPr marL="0" indent="0">
                        <a:buNone/>
                      </a:pPr>
                      <a:r>
                        <a:rPr lang="en-US" sz="1300" b="1" dirty="0">
                          <a:solidFill>
                            <a:srgbClr val="C99A2E"/>
                          </a:solidFill>
                          <a:latin typeface="Calibri" pitchFamily="34" charset="0"/>
                          <a:ea typeface="Calibri" pitchFamily="34" charset="-122"/>
                          <a:cs typeface="Calibri" pitchFamily="34" charset="-120"/>
                        </a:rPr>
                        <a:t>Good</a:t>
                      </a:r>
                      <a:endParaRPr lang="en-US" sz="130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400" b="1" dirty="0">
                          <a:solidFill>
                            <a:srgbClr val="141B49"/>
                          </a:solidFill>
                          <a:latin typeface="Cambria" pitchFamily="34" charset="0"/>
                          <a:ea typeface="Cambria" pitchFamily="34" charset="-122"/>
                          <a:cs typeface="Cambria" pitchFamily="34" charset="-120"/>
                        </a:rPr>
                        <a:t>O(n²)</a:t>
                      </a:r>
                      <a:endParaRPr lang="en-US" sz="1400" dirty="0">
                        <a:latin typeface="Cambria" charset="0"/>
                        <a:ea typeface="Cambria" charset="0"/>
                        <a:cs typeface="Cambria"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EF1FB"/>
                    </a:solidFill>
                  </a:tcPr>
                </a:tc>
                <a:tc>
                  <a:txBody>
                    <a:bodyPr/>
                    <a:lstStyle/>
                    <a:p>
                      <a:pPr marL="0" indent="0">
                        <a:buNone/>
                      </a:pPr>
                      <a:r>
                        <a:rPr lang="en-US" sz="1300" dirty="0">
                          <a:solidFill>
                            <a:srgbClr val="5A6482"/>
                          </a:solidFill>
                          <a:latin typeface="Calibri" pitchFamily="34" charset="0"/>
                          <a:ea typeface="Calibri" pitchFamily="34" charset="-122"/>
                          <a:cs typeface="Calibri" pitchFamily="34" charset="-120"/>
                        </a:rPr>
                        <a:t>Quadratic</a:t>
                      </a:r>
                      <a:endParaRPr lang="en-US" sz="130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EF1FB"/>
                    </a:solidFill>
                  </a:tcPr>
                </a:tc>
                <a:tc>
                  <a:txBody>
                    <a:bodyPr/>
                    <a:lstStyle/>
                    <a:p>
                      <a:pPr marL="0" indent="0">
                        <a:buNone/>
                      </a:pPr>
                      <a:r>
                        <a:rPr lang="en-US" sz="1300" dirty="0">
                          <a:solidFill>
                            <a:srgbClr val="5A6482"/>
                          </a:solidFill>
                          <a:latin typeface="Calibri" pitchFamily="34" charset="0"/>
                          <a:ea typeface="Calibri" pitchFamily="34" charset="-122"/>
                          <a:cs typeface="Calibri" pitchFamily="34" charset="-120"/>
                        </a:rPr>
                        <a:t>Bubble sort, insertion sort</a:t>
                      </a:r>
                      <a:endParaRPr lang="en-US" sz="130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EF1FB"/>
                    </a:solidFill>
                  </a:tcPr>
                </a:tc>
                <a:tc>
                  <a:txBody>
                    <a:bodyPr/>
                    <a:lstStyle/>
                    <a:p>
                      <a:pPr marL="0" indent="0">
                        <a:buNone/>
                      </a:pPr>
                      <a:r>
                        <a:rPr lang="en-US" sz="1300" b="1" dirty="0">
                          <a:solidFill>
                            <a:srgbClr val="E8622C"/>
                          </a:solidFill>
                          <a:latin typeface="Calibri" pitchFamily="34" charset="0"/>
                          <a:ea typeface="Calibri" pitchFamily="34" charset="-122"/>
                          <a:cs typeface="Calibri" pitchFamily="34" charset="-120"/>
                        </a:rPr>
                        <a:t>Limited</a:t>
                      </a:r>
                      <a:endParaRPr lang="en-US" sz="130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EF1FB"/>
                    </a:solidFill>
                  </a:tcPr>
                </a:tc>
                <a:extLst>
                  <a:ext uri="{0D108BD9-81ED-4DB2-BD59-A6C34878D82A}">
                    <a16:rowId xmlns:a16="http://schemas.microsoft.com/office/drawing/2014/main" val="10004"/>
                  </a:ext>
                </a:extLst>
              </a:tr>
              <a:tr h="658368">
                <a:tc>
                  <a:txBody>
                    <a:bodyPr/>
                    <a:lstStyle/>
                    <a:p>
                      <a:pPr marL="0" indent="0">
                        <a:buNone/>
                      </a:pPr>
                      <a:r>
                        <a:rPr lang="en-US" sz="1400" b="1" dirty="0">
                          <a:solidFill>
                            <a:srgbClr val="141B49"/>
                          </a:solidFill>
                          <a:latin typeface="Cambria" pitchFamily="34" charset="0"/>
                          <a:ea typeface="Cambria" pitchFamily="34" charset="-122"/>
                          <a:cs typeface="Cambria" pitchFamily="34" charset="-120"/>
                        </a:rPr>
                        <a:t>O(2ⁿ)</a:t>
                      </a:r>
                      <a:endParaRPr lang="en-US" sz="1400" dirty="0">
                        <a:latin typeface="Cambria" charset="0"/>
                        <a:ea typeface="Cambria" charset="0"/>
                        <a:cs typeface="Cambria"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c>
                  <a:txBody>
                    <a:bodyPr/>
                    <a:lstStyle/>
                    <a:p>
                      <a:pPr marL="0" indent="0">
                        <a:buNone/>
                      </a:pPr>
                      <a:r>
                        <a:rPr lang="en-US" sz="1300" dirty="0">
                          <a:solidFill>
                            <a:srgbClr val="5A6482"/>
                          </a:solidFill>
                          <a:latin typeface="Calibri" pitchFamily="34" charset="0"/>
                          <a:ea typeface="Calibri" pitchFamily="34" charset="-122"/>
                          <a:cs typeface="Calibri" pitchFamily="34" charset="-120"/>
                        </a:rPr>
                        <a:t>Exponential</a:t>
                      </a:r>
                      <a:endParaRPr lang="en-US" sz="130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c>
                  <a:txBody>
                    <a:bodyPr/>
                    <a:lstStyle/>
                    <a:p>
                      <a:pPr marL="0" indent="0">
                        <a:buNone/>
                      </a:pPr>
                      <a:r>
                        <a:rPr lang="en-US" sz="1300" dirty="0">
                          <a:solidFill>
                            <a:srgbClr val="5A6482"/>
                          </a:solidFill>
                          <a:latin typeface="Calibri" pitchFamily="34" charset="0"/>
                          <a:ea typeface="Calibri" pitchFamily="34" charset="-122"/>
                          <a:cs typeface="Calibri" pitchFamily="34" charset="-120"/>
                        </a:rPr>
                        <a:t>Subset generation, brute force</a:t>
                      </a:r>
                      <a:endParaRPr lang="en-US" sz="130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c>
                  <a:txBody>
                    <a:bodyPr/>
                    <a:lstStyle/>
                    <a:p>
                      <a:pPr marL="0" indent="0">
                        <a:buNone/>
                      </a:pPr>
                      <a:r>
                        <a:rPr lang="en-US" sz="1300" b="1" dirty="0">
                          <a:solidFill>
                            <a:srgbClr val="C0392B"/>
                          </a:solidFill>
                          <a:latin typeface="Calibri" pitchFamily="34" charset="0"/>
                          <a:ea typeface="Calibri" pitchFamily="34" charset="-122"/>
                          <a:cs typeface="Calibri" pitchFamily="34" charset="-120"/>
                        </a:rPr>
                        <a:t>Impractical</a:t>
                      </a:r>
                      <a:endParaRPr lang="en-US" sz="130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548640" y="5806440"/>
            <a:ext cx="11094415" cy="457200"/>
          </a:xfrm>
          <a:prstGeom prst="rect">
            <a:avLst/>
          </a:prstGeom>
          <a:noFill/>
          <a:ln/>
        </p:spPr>
        <p:txBody>
          <a:bodyPr wrap="square" rtlCol="0" anchor="ctr"/>
          <a:lstStyle/>
          <a:p>
            <a:pPr marL="0" indent="0">
              <a:buNone/>
            </a:pPr>
            <a:r>
              <a:rPr lang="en-US" sz="1250" i="1" dirty="0">
                <a:solidFill>
                  <a:srgbClr val="5A6482"/>
                </a:solidFill>
                <a:latin typeface="Calibri" pitchFamily="34" charset="0"/>
                <a:ea typeface="Calibri" pitchFamily="34" charset="-122"/>
                <a:cs typeface="Calibri" pitchFamily="34" charset="-120"/>
              </a:rPr>
              <a:t>As n grows, the gap between these categories widens dramatically — explored in the charts on the following slides.</a:t>
            </a:r>
            <a:endParaRPr lang="en-US" sz="1250" dirty="0"/>
          </a:p>
        </p:txBody>
      </p:sp>
      <p:sp>
        <p:nvSpPr>
          <p:cNvPr id="6" name="Text 3"/>
          <p:cNvSpPr/>
          <p:nvPr/>
        </p:nvSpPr>
        <p:spPr>
          <a:xfrm>
            <a:off x="11094415" y="6446520"/>
            <a:ext cx="822960" cy="274320"/>
          </a:xfrm>
          <a:prstGeom prst="rect">
            <a:avLst/>
          </a:prstGeom>
          <a:noFill/>
          <a:ln/>
        </p:spPr>
        <p:txBody>
          <a:bodyPr wrap="square" rtlCol="0" anchor="ctr"/>
          <a:lstStyle/>
          <a:p>
            <a:pPr marL="0" indent="0" algn="r">
              <a:buNone/>
            </a:pPr>
            <a:r>
              <a:rPr lang="en-US" sz="1000" dirty="0">
                <a:solidFill>
                  <a:srgbClr val="9AA3C2"/>
                </a:solidFill>
                <a:latin typeface="Calibri" pitchFamily="34" charset="0"/>
                <a:ea typeface="Calibri" pitchFamily="34" charset="-122"/>
                <a:cs typeface="Calibri" pitchFamily="34" charset="-120"/>
              </a:rPr>
              <a:t>3 / 10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VISUALIZATION I</a:t>
            </a:r>
            <a:endParaRPr lang="en-US" sz="1200" dirty="0"/>
          </a:p>
        </p:txBody>
      </p:sp>
      <p:sp>
        <p:nvSpPr>
          <p:cNvPr id="3" name="Text 1"/>
          <p:cNvSpPr/>
          <p:nvPr/>
        </p:nvSpPr>
        <p:spPr>
          <a:xfrm>
            <a:off x="548640" y="713232"/>
            <a:ext cx="11094415" cy="685800"/>
          </a:xfrm>
          <a:prstGeom prst="rect">
            <a:avLst/>
          </a:prstGeom>
          <a:noFill/>
          <a:ln/>
        </p:spPr>
        <p:txBody>
          <a:bodyPr wrap="square" rtlCol="0" anchor="ctr"/>
          <a:lstStyle/>
          <a:p>
            <a:pPr marL="0" indent="0">
              <a:buNone/>
            </a:pPr>
            <a:r>
              <a:rPr lang="en-US" sz="3200" b="1" dirty="0">
                <a:solidFill>
                  <a:srgbClr val="141B49"/>
                </a:solidFill>
                <a:latin typeface="Cambria" pitchFamily="34" charset="0"/>
                <a:ea typeface="Cambria" pitchFamily="34" charset="-122"/>
                <a:cs typeface="Cambria" pitchFamily="34" charset="-120"/>
              </a:rPr>
              <a:t>Small Inputs: The Exponential Explosion</a:t>
            </a:r>
            <a:endParaRPr lang="en-US" sz="3200" dirty="0"/>
          </a:p>
        </p:txBody>
      </p:sp>
      <p:sp>
        <p:nvSpPr>
          <p:cNvPr id="4" name="Text 2"/>
          <p:cNvSpPr/>
          <p:nvPr/>
        </p:nvSpPr>
        <p:spPr>
          <a:xfrm>
            <a:off x="548640" y="1417320"/>
            <a:ext cx="11094415" cy="457200"/>
          </a:xfrm>
          <a:prstGeom prst="rect">
            <a:avLst/>
          </a:prstGeom>
          <a:noFill/>
          <a:ln/>
        </p:spPr>
        <p:txBody>
          <a:bodyPr wrap="square" rtlCol="0" anchor="ctr"/>
          <a:lstStyle/>
          <a:p>
            <a:pPr marL="0" indent="0">
              <a:buNone/>
            </a:pPr>
            <a:r>
              <a:rPr lang="en-US" sz="1300" dirty="0">
                <a:solidFill>
                  <a:srgbClr val="5A6482"/>
                </a:solidFill>
                <a:latin typeface="Calibri" pitchFamily="34" charset="0"/>
                <a:ea typeface="Calibri" pitchFamily="34" charset="-122"/>
                <a:cs typeface="Calibri" pitchFamily="34" charset="-120"/>
              </a:rPr>
              <a:t>For n = 1 to 20, O(2ⁿ) already dwarfs every other function — while the rest stay visually flat by comparison.</a:t>
            </a:r>
            <a:endParaRPr lang="en-US" sz="1300" dirty="0"/>
          </a:p>
        </p:txBody>
      </p:sp>
      <p:graphicFrame>
        <p:nvGraphicFramePr>
          <p:cNvPr id="5" name="Chart 0"/>
          <p:cNvGraphicFramePr/>
          <p:nvPr/>
        </p:nvGraphicFramePr>
        <p:xfrm>
          <a:off x="548640" y="1965960"/>
          <a:ext cx="11094415"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11094415" y="6446520"/>
            <a:ext cx="822960" cy="274320"/>
          </a:xfrm>
          <a:prstGeom prst="rect">
            <a:avLst/>
          </a:prstGeom>
          <a:noFill/>
          <a:ln/>
        </p:spPr>
        <p:txBody>
          <a:bodyPr wrap="square" rtlCol="0" anchor="ctr"/>
          <a:lstStyle/>
          <a:p>
            <a:pPr marL="0" indent="0" algn="r">
              <a:buNone/>
            </a:pPr>
            <a:r>
              <a:rPr lang="en-US" sz="1000" dirty="0">
                <a:solidFill>
                  <a:srgbClr val="9AA3C2"/>
                </a:solidFill>
                <a:latin typeface="Calibri" pitchFamily="34" charset="0"/>
                <a:ea typeface="Calibri" pitchFamily="34" charset="-122"/>
                <a:cs typeface="Calibri" pitchFamily="34" charset="-120"/>
              </a:rPr>
              <a:t>4 / 10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VISUALIZATION II</a:t>
            </a:r>
            <a:endParaRPr lang="en-US" sz="1200" dirty="0"/>
          </a:p>
        </p:txBody>
      </p:sp>
      <p:sp>
        <p:nvSpPr>
          <p:cNvPr id="3" name="Text 1"/>
          <p:cNvSpPr/>
          <p:nvPr/>
        </p:nvSpPr>
        <p:spPr>
          <a:xfrm>
            <a:off x="548640" y="713232"/>
            <a:ext cx="11094415" cy="685800"/>
          </a:xfrm>
          <a:prstGeom prst="rect">
            <a:avLst/>
          </a:prstGeom>
          <a:noFill/>
          <a:ln/>
        </p:spPr>
        <p:txBody>
          <a:bodyPr wrap="square" rtlCol="0" anchor="ctr"/>
          <a:lstStyle/>
          <a:p>
            <a:pPr marL="0" indent="0">
              <a:buNone/>
            </a:pPr>
            <a:r>
              <a:rPr lang="en-US" sz="3200" b="1" dirty="0">
                <a:solidFill>
                  <a:srgbClr val="141B49"/>
                </a:solidFill>
                <a:latin typeface="Cambria" pitchFamily="34" charset="0"/>
                <a:ea typeface="Cambria" pitchFamily="34" charset="-122"/>
                <a:cs typeface="Cambria" pitchFamily="34" charset="-120"/>
              </a:rPr>
              <a:t>Practical Range: n = 10 to 100</a:t>
            </a:r>
            <a:endParaRPr lang="en-US" sz="3200" dirty="0"/>
          </a:p>
        </p:txBody>
      </p:sp>
      <p:sp>
        <p:nvSpPr>
          <p:cNvPr id="4" name="Text 2"/>
          <p:cNvSpPr/>
          <p:nvPr/>
        </p:nvSpPr>
        <p:spPr>
          <a:xfrm>
            <a:off x="548640" y="1417320"/>
            <a:ext cx="11094415" cy="457200"/>
          </a:xfrm>
          <a:prstGeom prst="rect">
            <a:avLst/>
          </a:prstGeom>
          <a:noFill/>
          <a:ln/>
        </p:spPr>
        <p:txBody>
          <a:bodyPr wrap="square" rtlCol="0" anchor="ctr"/>
          <a:lstStyle/>
          <a:p>
            <a:pPr marL="0" indent="0">
              <a:buNone/>
            </a:pPr>
            <a:r>
              <a:rPr lang="en-US" sz="1300" dirty="0">
                <a:solidFill>
                  <a:srgbClr val="5A6482"/>
                </a:solidFill>
                <a:latin typeface="Calibri" pitchFamily="34" charset="0"/>
                <a:ea typeface="Calibri" pitchFamily="34" charset="-122"/>
                <a:cs typeface="Calibri" pitchFamily="34" charset="-120"/>
              </a:rPr>
              <a:t>Removing O(2ⁿ) reveals how O(n²) still separates from the pack, while O(log n), O(n) and O(n log n) stay comparatively manageable.</a:t>
            </a:r>
            <a:endParaRPr lang="en-US" sz="1300" dirty="0"/>
          </a:p>
        </p:txBody>
      </p:sp>
      <p:graphicFrame>
        <p:nvGraphicFramePr>
          <p:cNvPr id="5" name="Chart 0"/>
          <p:cNvGraphicFramePr/>
          <p:nvPr/>
        </p:nvGraphicFramePr>
        <p:xfrm>
          <a:off x="548640" y="1965960"/>
          <a:ext cx="11094415"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11094415" y="6446520"/>
            <a:ext cx="822960" cy="274320"/>
          </a:xfrm>
          <a:prstGeom prst="rect">
            <a:avLst/>
          </a:prstGeom>
          <a:noFill/>
          <a:ln/>
        </p:spPr>
        <p:txBody>
          <a:bodyPr wrap="square" rtlCol="0" anchor="ctr"/>
          <a:lstStyle/>
          <a:p>
            <a:pPr marL="0" indent="0" algn="r">
              <a:buNone/>
            </a:pPr>
            <a:r>
              <a:rPr lang="en-US" sz="1000" dirty="0">
                <a:solidFill>
                  <a:srgbClr val="9AA3C2"/>
                </a:solidFill>
                <a:latin typeface="Calibri" pitchFamily="34" charset="0"/>
                <a:ea typeface="Calibri" pitchFamily="34" charset="-122"/>
                <a:cs typeface="Calibri" pitchFamily="34" charset="-120"/>
              </a:rPr>
              <a:t>5 / 10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THE NUMBERS</a:t>
            </a:r>
            <a:endParaRPr lang="en-US" sz="1200" dirty="0"/>
          </a:p>
        </p:txBody>
      </p:sp>
      <p:sp>
        <p:nvSpPr>
          <p:cNvPr id="3" name="Text 1"/>
          <p:cNvSpPr/>
          <p:nvPr/>
        </p:nvSpPr>
        <p:spPr>
          <a:xfrm>
            <a:off x="548640" y="713232"/>
            <a:ext cx="11094415" cy="685800"/>
          </a:xfrm>
          <a:prstGeom prst="rect">
            <a:avLst/>
          </a:prstGeom>
          <a:noFill/>
          <a:ln/>
        </p:spPr>
        <p:txBody>
          <a:bodyPr wrap="square" rtlCol="0" anchor="ctr"/>
          <a:lstStyle/>
          <a:p>
            <a:pPr marL="0" indent="0">
              <a:buNone/>
            </a:pPr>
            <a:r>
              <a:rPr lang="en-US" sz="3200" b="1" dirty="0">
                <a:solidFill>
                  <a:srgbClr val="141B49"/>
                </a:solidFill>
                <a:latin typeface="Cambria" pitchFamily="34" charset="0"/>
                <a:ea typeface="Cambria" pitchFamily="34" charset="-122"/>
                <a:cs typeface="Cambria" pitchFamily="34" charset="-120"/>
              </a:rPr>
              <a:t>Exact Operation Counts by Input Size</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0369296" cy="2194560"/>
        </p:xfrm>
        <a:graphic>
          <a:graphicData uri="http://schemas.openxmlformats.org/drawingml/2006/table">
            <a:tbl>
              <a:tblPr/>
              <a:tblGrid>
                <a:gridCol w="1737360">
                  <a:extLst>
                    <a:ext uri="{9D8B030D-6E8A-4147-A177-3AD203B41FA5}">
                      <a16:colId xmlns:a16="http://schemas.microsoft.com/office/drawing/2014/main" val="20000"/>
                    </a:ext>
                  </a:extLst>
                </a:gridCol>
                <a:gridCol w="2157984">
                  <a:extLst>
                    <a:ext uri="{9D8B030D-6E8A-4147-A177-3AD203B41FA5}">
                      <a16:colId xmlns:a16="http://schemas.microsoft.com/office/drawing/2014/main" val="20001"/>
                    </a:ext>
                  </a:extLst>
                </a:gridCol>
                <a:gridCol w="2157984">
                  <a:extLst>
                    <a:ext uri="{9D8B030D-6E8A-4147-A177-3AD203B41FA5}">
                      <a16:colId xmlns:a16="http://schemas.microsoft.com/office/drawing/2014/main" val="20002"/>
                    </a:ext>
                  </a:extLst>
                </a:gridCol>
                <a:gridCol w="2157984">
                  <a:extLst>
                    <a:ext uri="{9D8B030D-6E8A-4147-A177-3AD203B41FA5}">
                      <a16:colId xmlns:a16="http://schemas.microsoft.com/office/drawing/2014/main" val="20003"/>
                    </a:ext>
                  </a:extLst>
                </a:gridCol>
                <a:gridCol w="2157984">
                  <a:extLst>
                    <a:ext uri="{9D8B030D-6E8A-4147-A177-3AD203B41FA5}">
                      <a16:colId xmlns:a16="http://schemas.microsoft.com/office/drawing/2014/main" val="20004"/>
                    </a:ext>
                  </a:extLst>
                </a:gridCol>
              </a:tblGrid>
              <a:tr h="54864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O(log n)</a:t>
                      </a:r>
                      <a:endParaRPr lang="en-US" sz="130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O(n)</a:t>
                      </a:r>
                      <a:endParaRPr lang="en-US" sz="130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O(n log n)</a:t>
                      </a:r>
                      <a:endParaRPr lang="en-US" sz="130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1E2761"/>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O(n²)</a:t>
                      </a:r>
                      <a:endParaRPr lang="en-US" sz="130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48640">
                <a:tc>
                  <a:txBody>
                    <a:bodyPr/>
                    <a:lstStyle/>
                    <a:p>
                      <a:pPr marL="0" indent="0" algn="ctr">
                        <a:buNone/>
                      </a:pPr>
                      <a:r>
                        <a:rPr lang="en-US" sz="1350" b="1" dirty="0">
                          <a:solidFill>
                            <a:srgbClr val="141B49"/>
                          </a:solidFill>
                          <a:latin typeface="Cambria" pitchFamily="34" charset="0"/>
                          <a:ea typeface="Cambria" pitchFamily="34" charset="-122"/>
                          <a:cs typeface="Cambria" pitchFamily="34" charset="-120"/>
                        </a:rPr>
                        <a:t>10</a:t>
                      </a:r>
                      <a:endParaRPr lang="en-US" sz="1350" dirty="0">
                        <a:latin typeface="Cambria" charset="0"/>
                        <a:ea typeface="Cambria" charset="0"/>
                        <a:cs typeface="Cambria"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5A6482"/>
                          </a:solidFill>
                          <a:latin typeface="Calibri" pitchFamily="34" charset="0"/>
                          <a:ea typeface="Calibri" pitchFamily="34" charset="-122"/>
                          <a:cs typeface="Calibri" pitchFamily="34" charset="-120"/>
                        </a:rPr>
                        <a:t>3.3</a:t>
                      </a:r>
                      <a:endParaRPr lang="en-US" sz="135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5A6482"/>
                          </a:solidFill>
                          <a:latin typeface="Calibri" pitchFamily="34" charset="0"/>
                          <a:ea typeface="Calibri" pitchFamily="34" charset="-122"/>
                          <a:cs typeface="Calibri" pitchFamily="34" charset="-120"/>
                        </a:rPr>
                        <a:t>10</a:t>
                      </a:r>
                      <a:endParaRPr lang="en-US" sz="135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5A6482"/>
                          </a:solidFill>
                          <a:latin typeface="Calibri" pitchFamily="34" charset="0"/>
                          <a:ea typeface="Calibri" pitchFamily="34" charset="-122"/>
                          <a:cs typeface="Calibri" pitchFamily="34" charset="-120"/>
                        </a:rPr>
                        <a:t>33</a:t>
                      </a:r>
                      <a:endParaRPr lang="en-US" sz="135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5A6482"/>
                          </a:solidFill>
                          <a:latin typeface="Calibri" pitchFamily="34" charset="0"/>
                          <a:ea typeface="Calibri" pitchFamily="34" charset="-122"/>
                          <a:cs typeface="Calibri" pitchFamily="34" charset="-120"/>
                        </a:rPr>
                        <a:t>100</a:t>
                      </a:r>
                      <a:endParaRPr lang="en-US" sz="135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lang="en-US" sz="1350" b="1" dirty="0">
                          <a:solidFill>
                            <a:srgbClr val="141B49"/>
                          </a:solidFill>
                          <a:latin typeface="Cambria" pitchFamily="34" charset="0"/>
                          <a:ea typeface="Cambria" pitchFamily="34" charset="-122"/>
                          <a:cs typeface="Cambria" pitchFamily="34" charset="-120"/>
                        </a:rPr>
                        <a:t>100</a:t>
                      </a:r>
                      <a:endParaRPr lang="en-US" sz="1350" dirty="0">
                        <a:latin typeface="Cambria" charset="0"/>
                        <a:ea typeface="Cambria" charset="0"/>
                        <a:cs typeface="Cambria"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EF1FB"/>
                    </a:solidFill>
                  </a:tcPr>
                </a:tc>
                <a:tc>
                  <a:txBody>
                    <a:bodyPr/>
                    <a:lstStyle/>
                    <a:p>
                      <a:pPr marL="0" indent="0" algn="ctr">
                        <a:buNone/>
                      </a:pPr>
                      <a:r>
                        <a:rPr lang="en-US" sz="1350" dirty="0">
                          <a:solidFill>
                            <a:srgbClr val="5A6482"/>
                          </a:solidFill>
                          <a:latin typeface="Calibri" pitchFamily="34" charset="0"/>
                          <a:ea typeface="Calibri" pitchFamily="34" charset="-122"/>
                          <a:cs typeface="Calibri" pitchFamily="34" charset="-120"/>
                        </a:rPr>
                        <a:t>6.6</a:t>
                      </a:r>
                      <a:endParaRPr lang="en-US" sz="135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EF1FB"/>
                    </a:solidFill>
                  </a:tcPr>
                </a:tc>
                <a:tc>
                  <a:txBody>
                    <a:bodyPr/>
                    <a:lstStyle/>
                    <a:p>
                      <a:pPr marL="0" indent="0" algn="ctr">
                        <a:buNone/>
                      </a:pPr>
                      <a:r>
                        <a:rPr lang="en-US" sz="1350" dirty="0">
                          <a:solidFill>
                            <a:srgbClr val="5A6482"/>
                          </a:solidFill>
                          <a:latin typeface="Calibri" pitchFamily="34" charset="0"/>
                          <a:ea typeface="Calibri" pitchFamily="34" charset="-122"/>
                          <a:cs typeface="Calibri" pitchFamily="34" charset="-120"/>
                        </a:rPr>
                        <a:t>100</a:t>
                      </a:r>
                      <a:endParaRPr lang="en-US" sz="135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EF1FB"/>
                    </a:solidFill>
                  </a:tcPr>
                </a:tc>
                <a:tc>
                  <a:txBody>
                    <a:bodyPr/>
                    <a:lstStyle/>
                    <a:p>
                      <a:pPr marL="0" indent="0" algn="ctr">
                        <a:buNone/>
                      </a:pPr>
                      <a:r>
                        <a:rPr lang="en-US" sz="1350" dirty="0">
                          <a:solidFill>
                            <a:srgbClr val="5A6482"/>
                          </a:solidFill>
                          <a:latin typeface="Calibri" pitchFamily="34" charset="0"/>
                          <a:ea typeface="Calibri" pitchFamily="34" charset="-122"/>
                          <a:cs typeface="Calibri" pitchFamily="34" charset="-120"/>
                        </a:rPr>
                        <a:t>664</a:t>
                      </a:r>
                      <a:endParaRPr lang="en-US" sz="135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EF1FB"/>
                    </a:solidFill>
                  </a:tcPr>
                </a:tc>
                <a:tc>
                  <a:txBody>
                    <a:bodyPr/>
                    <a:lstStyle/>
                    <a:p>
                      <a:pPr marL="0" indent="0" algn="ctr">
                        <a:buNone/>
                      </a:pPr>
                      <a:r>
                        <a:rPr lang="en-US" sz="1350" dirty="0">
                          <a:solidFill>
                            <a:srgbClr val="5A6482"/>
                          </a:solidFill>
                          <a:latin typeface="Calibri" pitchFamily="34" charset="0"/>
                          <a:ea typeface="Calibri" pitchFamily="34" charset="-122"/>
                          <a:cs typeface="Calibri" pitchFamily="34" charset="-120"/>
                        </a:rPr>
                        <a:t>10,000</a:t>
                      </a:r>
                      <a:endParaRPr lang="en-US" sz="135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EEF1FB"/>
                    </a:solidFill>
                  </a:tcPr>
                </a:tc>
                <a:extLst>
                  <a:ext uri="{0D108BD9-81ED-4DB2-BD59-A6C34878D82A}">
                    <a16:rowId xmlns:a16="http://schemas.microsoft.com/office/drawing/2014/main" val="10002"/>
                  </a:ext>
                </a:extLst>
              </a:tr>
              <a:tr h="548640">
                <a:tc>
                  <a:txBody>
                    <a:bodyPr/>
                    <a:lstStyle/>
                    <a:p>
                      <a:pPr marL="0" indent="0" algn="ctr">
                        <a:buNone/>
                      </a:pPr>
                      <a:r>
                        <a:rPr lang="en-US" sz="1350" b="1" dirty="0">
                          <a:solidFill>
                            <a:srgbClr val="141B49"/>
                          </a:solidFill>
                          <a:latin typeface="Cambria" pitchFamily="34" charset="0"/>
                          <a:ea typeface="Cambria" pitchFamily="34" charset="-122"/>
                          <a:cs typeface="Cambria" pitchFamily="34" charset="-120"/>
                        </a:rPr>
                        <a:t>1,000</a:t>
                      </a:r>
                      <a:endParaRPr lang="en-US" sz="1350" dirty="0">
                        <a:latin typeface="Cambria" charset="0"/>
                        <a:ea typeface="Cambria" charset="0"/>
                        <a:cs typeface="Cambria"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5A6482"/>
                          </a:solidFill>
                          <a:latin typeface="Calibri" pitchFamily="34" charset="0"/>
                          <a:ea typeface="Calibri" pitchFamily="34" charset="-122"/>
                          <a:cs typeface="Calibri" pitchFamily="34" charset="-120"/>
                        </a:rPr>
                        <a:t>10.0</a:t>
                      </a:r>
                      <a:endParaRPr lang="en-US" sz="135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5A6482"/>
                          </a:solidFill>
                          <a:latin typeface="Calibri" pitchFamily="34" charset="0"/>
                          <a:ea typeface="Calibri" pitchFamily="34" charset="-122"/>
                          <a:cs typeface="Calibri" pitchFamily="34" charset="-120"/>
                        </a:rPr>
                        <a:t>1,000</a:t>
                      </a:r>
                      <a:endParaRPr lang="en-US" sz="135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5A6482"/>
                          </a:solidFill>
                          <a:latin typeface="Calibri" pitchFamily="34" charset="0"/>
                          <a:ea typeface="Calibri" pitchFamily="34" charset="-122"/>
                          <a:cs typeface="Calibri" pitchFamily="34" charset="-120"/>
                        </a:rPr>
                        <a:t>9,966</a:t>
                      </a:r>
                      <a:endParaRPr lang="en-US" sz="135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5A6482"/>
                          </a:solidFill>
                          <a:latin typeface="Calibri" pitchFamily="34" charset="0"/>
                          <a:ea typeface="Calibri" pitchFamily="34" charset="-122"/>
                          <a:cs typeface="Calibri" pitchFamily="34" charset="-120"/>
                        </a:rPr>
                        <a:t>1,000,000</a:t>
                      </a:r>
                      <a:endParaRPr lang="en-US" sz="1350" dirty="0">
                        <a:latin typeface="Calibri" charset="0"/>
                        <a:ea typeface="Calibri" charset="0"/>
                        <a:cs typeface="Calibri" charset="0"/>
                      </a:endParaRPr>
                    </a:p>
                  </a:txBody>
                  <a:tcPr anchor="ctr">
                    <a:lnL w="12700" cap="flat" cmpd="sng" algn="ctr">
                      <a:solidFill>
                        <a:srgbClr val="E1E5F5"/>
                      </a:solidFill>
                      <a:prstDash val="solid"/>
                      <a:round/>
                      <a:headEnd type="none" w="med" len="med"/>
                      <a:tailEnd type="none" w="med" len="med"/>
                    </a:lnL>
                    <a:lnR w="12700" cap="flat" cmpd="sng" algn="ctr">
                      <a:solidFill>
                        <a:srgbClr val="E1E5F5"/>
                      </a:solidFill>
                      <a:prstDash val="solid"/>
                      <a:round/>
                      <a:headEnd type="none" w="med" len="med"/>
                      <a:tailEnd type="none" w="med" len="med"/>
                    </a:lnR>
                    <a:lnT w="12700" cap="flat" cmpd="sng" algn="ctr">
                      <a:solidFill>
                        <a:srgbClr val="E1E5F5"/>
                      </a:solidFill>
                      <a:prstDash val="solid"/>
                      <a:round/>
                      <a:headEnd type="none" w="med" len="med"/>
                      <a:tailEnd type="none" w="med" len="med"/>
                    </a:lnT>
                    <a:lnB w="12700" cap="flat" cmpd="sng" algn="ctr">
                      <a:solidFill>
                        <a:srgbClr val="E1E5F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548640" y="3794760"/>
            <a:ext cx="11094415" cy="2468880"/>
          </a:xfrm>
          <a:prstGeom prst="roundRect">
            <a:avLst>
              <a:gd name="adj" fmla="val 2963"/>
            </a:avLst>
          </a:prstGeom>
          <a:solidFill>
            <a:srgbClr val="141B49"/>
          </a:solidFill>
          <a:ln/>
        </p:spPr>
      </p:sp>
      <p:sp>
        <p:nvSpPr>
          <p:cNvPr id="6" name="Text 3"/>
          <p:cNvSpPr/>
          <p:nvPr/>
        </p:nvSpPr>
        <p:spPr>
          <a:xfrm>
            <a:off x="914400" y="4023360"/>
            <a:ext cx="7315200" cy="320040"/>
          </a:xfrm>
          <a:prstGeom prst="rect">
            <a:avLst/>
          </a:prstGeom>
          <a:noFill/>
          <a:ln/>
        </p:spPr>
        <p:txBody>
          <a:bodyPr wrap="square" rtlCol="0" anchor="ctr"/>
          <a:lstStyle/>
          <a:p>
            <a:pPr marL="0" indent="0">
              <a:buNone/>
            </a:pPr>
            <a:r>
              <a:rPr lang="en-US" sz="1300" b="1" kern="0" spc="200" dirty="0">
                <a:solidFill>
                  <a:srgbClr val="E8622C"/>
                </a:solidFill>
                <a:latin typeface="Calibri" pitchFamily="34" charset="0"/>
                <a:ea typeface="Calibri" pitchFamily="34" charset="-122"/>
                <a:cs typeface="Calibri" pitchFamily="34" charset="-120"/>
              </a:rPr>
              <a:t>O(2ⁿ) IN THE SAME RANGE</a:t>
            </a:r>
            <a:endParaRPr lang="en-US" sz="1300" dirty="0"/>
          </a:p>
        </p:txBody>
      </p:sp>
      <p:sp>
        <p:nvSpPr>
          <p:cNvPr id="4" name="Text 4"/>
          <p:cNvSpPr/>
          <p:nvPr/>
        </p:nvSpPr>
        <p:spPr>
          <a:xfrm>
            <a:off x="914400" y="4526280"/>
            <a:ext cx="3179978" cy="36576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n = 10</a:t>
            </a:r>
            <a:endParaRPr lang="en-US" sz="1300" dirty="0"/>
          </a:p>
        </p:txBody>
      </p:sp>
      <p:sp>
        <p:nvSpPr>
          <p:cNvPr id="8" name="Text 5"/>
          <p:cNvSpPr/>
          <p:nvPr/>
        </p:nvSpPr>
        <p:spPr>
          <a:xfrm>
            <a:off x="914400" y="4846320"/>
            <a:ext cx="3179978" cy="68580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1,024</a:t>
            </a:r>
            <a:endParaRPr lang="en-US" sz="2600" dirty="0"/>
          </a:p>
        </p:txBody>
      </p:sp>
      <p:sp>
        <p:nvSpPr>
          <p:cNvPr id="9" name="Text 6"/>
          <p:cNvSpPr/>
          <p:nvPr/>
        </p:nvSpPr>
        <p:spPr>
          <a:xfrm>
            <a:off x="4368698" y="4526280"/>
            <a:ext cx="3179978" cy="36576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n = 20</a:t>
            </a:r>
            <a:endParaRPr lang="en-US" sz="1300" dirty="0"/>
          </a:p>
        </p:txBody>
      </p:sp>
      <p:sp>
        <p:nvSpPr>
          <p:cNvPr id="10" name="Text 7"/>
          <p:cNvSpPr/>
          <p:nvPr/>
        </p:nvSpPr>
        <p:spPr>
          <a:xfrm>
            <a:off x="4368698" y="4846320"/>
            <a:ext cx="3179978" cy="68580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1,048,576</a:t>
            </a:r>
            <a:endParaRPr lang="en-US" sz="2600" dirty="0"/>
          </a:p>
        </p:txBody>
      </p:sp>
      <p:sp>
        <p:nvSpPr>
          <p:cNvPr id="11" name="Text 8"/>
          <p:cNvSpPr/>
          <p:nvPr/>
        </p:nvSpPr>
        <p:spPr>
          <a:xfrm>
            <a:off x="7822997" y="4526280"/>
            <a:ext cx="3179978" cy="36576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n = 30</a:t>
            </a:r>
            <a:endParaRPr lang="en-US" sz="1300" dirty="0"/>
          </a:p>
        </p:txBody>
      </p:sp>
      <p:sp>
        <p:nvSpPr>
          <p:cNvPr id="12" name="Text 9"/>
          <p:cNvSpPr/>
          <p:nvPr/>
        </p:nvSpPr>
        <p:spPr>
          <a:xfrm>
            <a:off x="7822997" y="4846320"/>
            <a:ext cx="3179978" cy="68580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1,073,741,824</a:t>
            </a:r>
            <a:endParaRPr lang="en-US" sz="2600" dirty="0"/>
          </a:p>
        </p:txBody>
      </p:sp>
      <p:sp>
        <p:nvSpPr>
          <p:cNvPr id="13" name="Text 10"/>
          <p:cNvSpPr/>
          <p:nvPr/>
        </p:nvSpPr>
        <p:spPr>
          <a:xfrm>
            <a:off x="914400" y="5715000"/>
            <a:ext cx="10362895" cy="502920"/>
          </a:xfrm>
          <a:prstGeom prst="rect">
            <a:avLst/>
          </a:prstGeom>
          <a:noFill/>
          <a:ln/>
        </p:spPr>
        <p:txBody>
          <a:bodyPr wrap="square" rtlCol="0" anchor="ctr"/>
          <a:lstStyle/>
          <a:p>
            <a:pPr marL="0" indent="0">
              <a:buNone/>
            </a:pPr>
            <a:r>
              <a:rPr lang="en-US" sz="1200" i="1" dirty="0">
                <a:solidFill>
                  <a:srgbClr val="CADCFC"/>
                </a:solidFill>
                <a:latin typeface="Calibri" pitchFamily="34" charset="0"/>
                <a:ea typeface="Calibri" pitchFamily="34" charset="-122"/>
                <a:cs typeface="Calibri" pitchFamily="34" charset="-120"/>
              </a:rPr>
              <a:t>At just n = 30, O(2ⁿ) already exceeds one billion operations — far beyond every value in the table above, all reached at n = 1,000.</a:t>
            </a:r>
            <a:endParaRPr lang="en-US" sz="1200" dirty="0"/>
          </a:p>
        </p:txBody>
      </p:sp>
      <p:sp>
        <p:nvSpPr>
          <p:cNvPr id="14" name="Text 11"/>
          <p:cNvSpPr/>
          <p:nvPr/>
        </p:nvSpPr>
        <p:spPr>
          <a:xfrm>
            <a:off x="11094415" y="6446520"/>
            <a:ext cx="822960" cy="274320"/>
          </a:xfrm>
          <a:prstGeom prst="rect">
            <a:avLst/>
          </a:prstGeom>
          <a:noFill/>
          <a:ln/>
        </p:spPr>
        <p:txBody>
          <a:bodyPr wrap="square" rtlCol="0" anchor="ctr"/>
          <a:lstStyle/>
          <a:p>
            <a:pPr marL="0" indent="0" algn="r">
              <a:buNone/>
            </a:pPr>
            <a:r>
              <a:rPr lang="en-US" sz="1000" dirty="0">
                <a:solidFill>
                  <a:srgbClr val="9AA3C2"/>
                </a:solidFill>
                <a:latin typeface="Calibri" pitchFamily="34" charset="0"/>
                <a:ea typeface="Calibri" pitchFamily="34" charset="-122"/>
                <a:cs typeface="Calibri" pitchFamily="34" charset="-120"/>
              </a:rPr>
              <a:t>6 / 10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PRACTICAL FOR LARGE SCALE</a:t>
            </a:r>
            <a:endParaRPr lang="en-US" sz="1200" dirty="0"/>
          </a:p>
        </p:txBody>
      </p:sp>
      <p:sp>
        <p:nvSpPr>
          <p:cNvPr id="3" name="Text 1"/>
          <p:cNvSpPr/>
          <p:nvPr/>
        </p:nvSpPr>
        <p:spPr>
          <a:xfrm>
            <a:off x="548640" y="713232"/>
            <a:ext cx="11094415" cy="685800"/>
          </a:xfrm>
          <a:prstGeom prst="rect">
            <a:avLst/>
          </a:prstGeom>
          <a:noFill/>
          <a:ln/>
        </p:spPr>
        <p:txBody>
          <a:bodyPr wrap="square" rtlCol="0" anchor="ctr"/>
          <a:lstStyle/>
          <a:p>
            <a:pPr marL="0" indent="0">
              <a:buNone/>
            </a:pPr>
            <a:r>
              <a:rPr lang="en-US" sz="3200" b="1" dirty="0">
                <a:solidFill>
                  <a:srgbClr val="141B49"/>
                </a:solidFill>
                <a:latin typeface="Cambria" pitchFamily="34" charset="0"/>
                <a:ea typeface="Cambria" pitchFamily="34" charset="-122"/>
                <a:cs typeface="Cambria" pitchFamily="34" charset="-120"/>
              </a:rPr>
              <a:t>O(log n) and O(n): Built to Scale</a:t>
            </a:r>
            <a:endParaRPr lang="en-US" sz="3200" dirty="0"/>
          </a:p>
        </p:txBody>
      </p:sp>
      <p:sp>
        <p:nvSpPr>
          <p:cNvPr id="4" name="Shape 2"/>
          <p:cNvSpPr/>
          <p:nvPr/>
        </p:nvSpPr>
        <p:spPr>
          <a:xfrm>
            <a:off x="548640" y="1737360"/>
            <a:ext cx="5272888" cy="4206240"/>
          </a:xfrm>
          <a:prstGeom prst="roundRect">
            <a:avLst>
              <a:gd name="adj" fmla="val 1739"/>
            </a:avLst>
          </a:prstGeom>
          <a:solidFill>
            <a:srgbClr val="FFFFFF"/>
          </a:solidFill>
          <a:ln w="12700">
            <a:solidFill>
              <a:srgbClr val="E1E5F5"/>
            </a:solidFill>
            <a:prstDash val="solid"/>
          </a:ln>
          <a:effectLst>
            <a:outerShdw blurRad="76200" dist="38100" dir="5400000" algn="bl" rotWithShape="0">
              <a:srgbClr val="1E2761">
                <a:alpha val="12000"/>
              </a:srgbClr>
            </a:outerShdw>
          </a:effectLst>
        </p:spPr>
      </p:sp>
      <p:sp>
        <p:nvSpPr>
          <p:cNvPr id="5" name="Shape 3"/>
          <p:cNvSpPr/>
          <p:nvPr/>
        </p:nvSpPr>
        <p:spPr>
          <a:xfrm>
            <a:off x="868680" y="2057400"/>
            <a:ext cx="548640" cy="548640"/>
          </a:xfrm>
          <a:prstGeom prst="ellipse">
            <a:avLst/>
          </a:prstGeom>
          <a:solidFill>
            <a:srgbClr val="2E9E6F"/>
          </a:solidFill>
          <a:ln/>
        </p:spPr>
      </p:sp>
      <p:sp>
        <p:nvSpPr>
          <p:cNvPr id="6" name="Text 4"/>
          <p:cNvSpPr/>
          <p:nvPr/>
        </p:nvSpPr>
        <p:spPr>
          <a:xfrm>
            <a:off x="868680" y="2057400"/>
            <a:ext cx="548640" cy="548640"/>
          </a:xfrm>
          <a:prstGeom prst="rect">
            <a:avLst/>
          </a:prstGeom>
          <a:noFill/>
          <a:ln/>
        </p:spPr>
        <p:txBody>
          <a:bodyPr wrap="square" rtlCol="0" anchor="ctr"/>
          <a:lstStyle/>
          <a:p>
            <a:pPr marL="0" indent="0" algn="ctr">
              <a:buNone/>
            </a:pPr>
            <a:r>
              <a:rPr lang="en-US" sz="1320" b="1" dirty="0">
                <a:solidFill>
                  <a:srgbClr val="FFFFFF"/>
                </a:solidFill>
                <a:latin typeface="Cambria" pitchFamily="34" charset="0"/>
                <a:ea typeface="Cambria" pitchFamily="34" charset="-122"/>
                <a:cs typeface="Cambria" pitchFamily="34" charset="-120"/>
              </a:rPr>
              <a:t>L</a:t>
            </a:r>
            <a:endParaRPr lang="en-US" sz="1320" dirty="0"/>
          </a:p>
        </p:txBody>
      </p:sp>
      <p:sp>
        <p:nvSpPr>
          <p:cNvPr id="7" name="Text 5"/>
          <p:cNvSpPr/>
          <p:nvPr/>
        </p:nvSpPr>
        <p:spPr>
          <a:xfrm>
            <a:off x="1554480" y="2103120"/>
            <a:ext cx="3992728" cy="502920"/>
          </a:xfrm>
          <a:prstGeom prst="rect">
            <a:avLst/>
          </a:prstGeom>
          <a:noFill/>
          <a:ln/>
        </p:spPr>
        <p:txBody>
          <a:bodyPr wrap="square" rtlCol="0" anchor="ctr"/>
          <a:lstStyle/>
          <a:p>
            <a:pPr marL="0" indent="0">
              <a:buNone/>
            </a:pPr>
            <a:r>
              <a:rPr lang="en-US" sz="1700" b="1" dirty="0">
                <a:solidFill>
                  <a:srgbClr val="141B49"/>
                </a:solidFill>
                <a:latin typeface="Cambria" pitchFamily="34" charset="0"/>
                <a:ea typeface="Cambria" pitchFamily="34" charset="-122"/>
                <a:cs typeface="Cambria" pitchFamily="34" charset="-120"/>
              </a:rPr>
              <a:t>O(log n) — Logarithmic</a:t>
            </a:r>
            <a:endParaRPr lang="en-US" sz="1700" dirty="0"/>
          </a:p>
        </p:txBody>
      </p:sp>
      <p:sp>
        <p:nvSpPr>
          <p:cNvPr id="8" name="Text 6"/>
          <p:cNvSpPr/>
          <p:nvPr/>
        </p:nvSpPr>
        <p:spPr>
          <a:xfrm>
            <a:off x="914400" y="2880360"/>
            <a:ext cx="4541368" cy="1005840"/>
          </a:xfrm>
          <a:prstGeom prst="rect">
            <a:avLst/>
          </a:prstGeom>
          <a:noFill/>
          <a:ln/>
        </p:spPr>
        <p:txBody>
          <a:bodyPr wrap="square" rtlCol="0" anchor="ctr"/>
          <a:lstStyle/>
          <a:p>
            <a:pPr marL="0" indent="0">
              <a:lnSpc>
                <a:spcPts val="1900"/>
              </a:lnSpc>
              <a:buNone/>
            </a:pPr>
            <a:r>
              <a:rPr lang="en-US" sz="1350" dirty="0">
                <a:solidFill>
                  <a:srgbClr val="5A6482"/>
                </a:solidFill>
                <a:latin typeface="Calibri" pitchFamily="34" charset="0"/>
                <a:ea typeface="Calibri" pitchFamily="34" charset="-122"/>
                <a:cs typeface="Calibri" pitchFamily="34" charset="-120"/>
              </a:rPr>
              <a:t>Each step eliminates half the remaining data. Doubling n adds only one more operation.</a:t>
            </a:r>
            <a:endParaRPr lang="en-US" sz="1350" dirty="0"/>
          </a:p>
        </p:txBody>
      </p:sp>
      <p:sp>
        <p:nvSpPr>
          <p:cNvPr id="9" name="Shape 7"/>
          <p:cNvSpPr/>
          <p:nvPr/>
        </p:nvSpPr>
        <p:spPr>
          <a:xfrm>
            <a:off x="914400" y="4023360"/>
            <a:ext cx="4541368" cy="1554480"/>
          </a:xfrm>
          <a:prstGeom prst="roundRect">
            <a:avLst>
              <a:gd name="adj" fmla="val 3529"/>
            </a:avLst>
          </a:prstGeom>
          <a:solidFill>
            <a:srgbClr val="EEF1FB"/>
          </a:solidFill>
          <a:ln/>
        </p:spPr>
      </p:sp>
      <p:sp>
        <p:nvSpPr>
          <p:cNvPr id="10" name="Text 8"/>
          <p:cNvSpPr/>
          <p:nvPr/>
        </p:nvSpPr>
        <p:spPr>
          <a:xfrm>
            <a:off x="1097280" y="4206240"/>
            <a:ext cx="4175608" cy="1188720"/>
          </a:xfrm>
          <a:prstGeom prst="rect">
            <a:avLst/>
          </a:prstGeom>
          <a:noFill/>
          <a:ln/>
        </p:spPr>
        <p:txBody>
          <a:bodyPr wrap="square" rtlCol="0" anchor="ctr"/>
          <a:lstStyle/>
          <a:p>
            <a:pPr marL="0" indent="0">
              <a:lnSpc>
                <a:spcPts val="1800"/>
              </a:lnSpc>
              <a:buNone/>
            </a:pPr>
            <a:r>
              <a:rPr lang="en-US" sz="1250" i="1" dirty="0">
                <a:solidFill>
                  <a:srgbClr val="141B49"/>
                </a:solidFill>
                <a:latin typeface="Calibri" pitchFamily="34" charset="0"/>
                <a:ea typeface="Calibri" pitchFamily="34" charset="-122"/>
                <a:cs typeface="Calibri" pitchFamily="34" charset="-120"/>
              </a:rPr>
              <a:t>Example: binary search on 1,000,000 items takes about 20 comparisons.</a:t>
            </a:r>
            <a:endParaRPr lang="en-US" sz="1250" dirty="0"/>
          </a:p>
        </p:txBody>
      </p:sp>
      <p:sp>
        <p:nvSpPr>
          <p:cNvPr id="11" name="Shape 9"/>
          <p:cNvSpPr/>
          <p:nvPr/>
        </p:nvSpPr>
        <p:spPr>
          <a:xfrm>
            <a:off x="6370168" y="1737360"/>
            <a:ext cx="5272888" cy="4206240"/>
          </a:xfrm>
          <a:prstGeom prst="roundRect">
            <a:avLst>
              <a:gd name="adj" fmla="val 1739"/>
            </a:avLst>
          </a:prstGeom>
          <a:solidFill>
            <a:srgbClr val="FFFFFF"/>
          </a:solidFill>
          <a:ln w="12700">
            <a:solidFill>
              <a:srgbClr val="E1E5F5"/>
            </a:solidFill>
            <a:prstDash val="solid"/>
          </a:ln>
          <a:effectLst>
            <a:outerShdw blurRad="76200" dist="38100" dir="5400000" algn="bl" rotWithShape="0">
              <a:srgbClr val="1E2761">
                <a:alpha val="12000"/>
              </a:srgbClr>
            </a:outerShdw>
          </a:effectLst>
        </p:spPr>
      </p:sp>
      <p:sp>
        <p:nvSpPr>
          <p:cNvPr id="12" name="Shape 10"/>
          <p:cNvSpPr/>
          <p:nvPr/>
        </p:nvSpPr>
        <p:spPr>
          <a:xfrm>
            <a:off x="6690208" y="2057400"/>
            <a:ext cx="548640" cy="548640"/>
          </a:xfrm>
          <a:prstGeom prst="ellipse">
            <a:avLst/>
          </a:prstGeom>
          <a:solidFill>
            <a:srgbClr val="1E2761"/>
          </a:solidFill>
          <a:ln/>
        </p:spPr>
      </p:sp>
      <p:sp>
        <p:nvSpPr>
          <p:cNvPr id="13" name="Text 11"/>
          <p:cNvSpPr/>
          <p:nvPr/>
        </p:nvSpPr>
        <p:spPr>
          <a:xfrm>
            <a:off x="6690208" y="2057400"/>
            <a:ext cx="548640" cy="548640"/>
          </a:xfrm>
          <a:prstGeom prst="rect">
            <a:avLst/>
          </a:prstGeom>
          <a:noFill/>
          <a:ln/>
        </p:spPr>
        <p:txBody>
          <a:bodyPr wrap="square" rtlCol="0" anchor="ctr"/>
          <a:lstStyle/>
          <a:p>
            <a:pPr marL="0" indent="0" algn="ctr">
              <a:buNone/>
            </a:pPr>
            <a:r>
              <a:rPr lang="en-US" sz="1320" b="1" dirty="0">
                <a:solidFill>
                  <a:srgbClr val="FFFFFF"/>
                </a:solidFill>
                <a:latin typeface="Cambria" pitchFamily="34" charset="0"/>
                <a:ea typeface="Cambria" pitchFamily="34" charset="-122"/>
                <a:cs typeface="Cambria" pitchFamily="34" charset="-120"/>
              </a:rPr>
              <a:t>N</a:t>
            </a:r>
            <a:endParaRPr lang="en-US" sz="1320" dirty="0"/>
          </a:p>
        </p:txBody>
      </p:sp>
      <p:sp>
        <p:nvSpPr>
          <p:cNvPr id="14" name="Text 12"/>
          <p:cNvSpPr/>
          <p:nvPr/>
        </p:nvSpPr>
        <p:spPr>
          <a:xfrm>
            <a:off x="7376008" y="2103120"/>
            <a:ext cx="3992728" cy="502920"/>
          </a:xfrm>
          <a:prstGeom prst="rect">
            <a:avLst/>
          </a:prstGeom>
          <a:noFill/>
          <a:ln/>
        </p:spPr>
        <p:txBody>
          <a:bodyPr wrap="square" rtlCol="0" anchor="ctr"/>
          <a:lstStyle/>
          <a:p>
            <a:pPr marL="0" indent="0">
              <a:buNone/>
            </a:pPr>
            <a:r>
              <a:rPr lang="en-US" sz="1700" b="1" dirty="0">
                <a:solidFill>
                  <a:srgbClr val="141B49"/>
                </a:solidFill>
                <a:latin typeface="Cambria" pitchFamily="34" charset="0"/>
                <a:ea typeface="Cambria" pitchFamily="34" charset="-122"/>
                <a:cs typeface="Cambria" pitchFamily="34" charset="-120"/>
              </a:rPr>
              <a:t>O(n) — Linear</a:t>
            </a:r>
            <a:endParaRPr lang="en-US" sz="1700" dirty="0"/>
          </a:p>
        </p:txBody>
      </p:sp>
      <p:sp>
        <p:nvSpPr>
          <p:cNvPr id="15" name="Text 13"/>
          <p:cNvSpPr/>
          <p:nvPr/>
        </p:nvSpPr>
        <p:spPr>
          <a:xfrm>
            <a:off x="6735928" y="2880360"/>
            <a:ext cx="4541368" cy="1005840"/>
          </a:xfrm>
          <a:prstGeom prst="rect">
            <a:avLst/>
          </a:prstGeom>
          <a:noFill/>
          <a:ln/>
        </p:spPr>
        <p:txBody>
          <a:bodyPr wrap="square" rtlCol="0" anchor="ctr"/>
          <a:lstStyle/>
          <a:p>
            <a:pPr marL="0" indent="0">
              <a:lnSpc>
                <a:spcPts val="1900"/>
              </a:lnSpc>
              <a:buNone/>
            </a:pPr>
            <a:r>
              <a:rPr lang="en-US" sz="1350" dirty="0">
                <a:solidFill>
                  <a:srgbClr val="5A6482"/>
                </a:solidFill>
                <a:latin typeface="Calibri" pitchFamily="34" charset="0"/>
                <a:ea typeface="Calibri" pitchFamily="34" charset="-122"/>
                <a:cs typeface="Calibri" pitchFamily="34" charset="-120"/>
              </a:rPr>
              <a:t>Work grows in direct proportion to input size — predictable and easy to reason about.</a:t>
            </a:r>
            <a:endParaRPr lang="en-US" sz="1350" dirty="0"/>
          </a:p>
        </p:txBody>
      </p:sp>
      <p:sp>
        <p:nvSpPr>
          <p:cNvPr id="16" name="Shape 14"/>
          <p:cNvSpPr/>
          <p:nvPr/>
        </p:nvSpPr>
        <p:spPr>
          <a:xfrm>
            <a:off x="6735928" y="4023360"/>
            <a:ext cx="4541368" cy="1554480"/>
          </a:xfrm>
          <a:prstGeom prst="roundRect">
            <a:avLst>
              <a:gd name="adj" fmla="val 3529"/>
            </a:avLst>
          </a:prstGeom>
          <a:solidFill>
            <a:srgbClr val="EEF1FB"/>
          </a:solidFill>
          <a:ln/>
        </p:spPr>
      </p:sp>
      <p:sp>
        <p:nvSpPr>
          <p:cNvPr id="17" name="Text 15"/>
          <p:cNvSpPr/>
          <p:nvPr/>
        </p:nvSpPr>
        <p:spPr>
          <a:xfrm>
            <a:off x="6918808" y="4206240"/>
            <a:ext cx="4175608" cy="1188720"/>
          </a:xfrm>
          <a:prstGeom prst="rect">
            <a:avLst/>
          </a:prstGeom>
          <a:noFill/>
          <a:ln/>
        </p:spPr>
        <p:txBody>
          <a:bodyPr wrap="square" rtlCol="0" anchor="ctr"/>
          <a:lstStyle/>
          <a:p>
            <a:pPr marL="0" indent="0">
              <a:lnSpc>
                <a:spcPts val="1800"/>
              </a:lnSpc>
              <a:buNone/>
            </a:pPr>
            <a:r>
              <a:rPr lang="en-US" sz="1250" i="1" dirty="0">
                <a:solidFill>
                  <a:srgbClr val="141B49"/>
                </a:solidFill>
                <a:latin typeface="Calibri" pitchFamily="34" charset="0"/>
                <a:ea typeface="Calibri" pitchFamily="34" charset="-122"/>
                <a:cs typeface="Calibri" pitchFamily="34" charset="-120"/>
              </a:rPr>
              <a:t>Example: scanning an unsorted array of 1,000,000 items takes 1,000,000 checks, at worst.</a:t>
            </a:r>
            <a:endParaRPr lang="en-US" sz="1250" dirty="0"/>
          </a:p>
        </p:txBody>
      </p:sp>
      <p:sp>
        <p:nvSpPr>
          <p:cNvPr id="18" name="Text 16"/>
          <p:cNvSpPr/>
          <p:nvPr/>
        </p:nvSpPr>
        <p:spPr>
          <a:xfrm>
            <a:off x="548640" y="6126480"/>
            <a:ext cx="11094415" cy="365760"/>
          </a:xfrm>
          <a:prstGeom prst="rect">
            <a:avLst/>
          </a:prstGeom>
          <a:noFill/>
          <a:ln/>
        </p:spPr>
        <p:txBody>
          <a:bodyPr wrap="square" rtlCol="0" anchor="ctr"/>
          <a:lstStyle/>
          <a:p>
            <a:pPr marL="0" indent="0">
              <a:buNone/>
            </a:pPr>
            <a:r>
              <a:rPr lang="en-US" sz="1250" i="1" dirty="0">
                <a:solidFill>
                  <a:srgbClr val="5A6482"/>
                </a:solidFill>
                <a:latin typeface="Calibri" pitchFamily="34" charset="0"/>
                <a:ea typeface="Calibri" pitchFamily="34" charset="-122"/>
                <a:cs typeface="Calibri" pitchFamily="34" charset="-120"/>
              </a:rPr>
              <a:t>Both remain fast and predictable even as data grows into the millions — the gold standard for large-scale systems.</a:t>
            </a:r>
            <a:endParaRPr lang="en-US" sz="1250" dirty="0"/>
          </a:p>
        </p:txBody>
      </p:sp>
      <p:sp>
        <p:nvSpPr>
          <p:cNvPr id="19" name="Text 17"/>
          <p:cNvSpPr/>
          <p:nvPr/>
        </p:nvSpPr>
        <p:spPr>
          <a:xfrm>
            <a:off x="11094415" y="6446520"/>
            <a:ext cx="822960" cy="274320"/>
          </a:xfrm>
          <a:prstGeom prst="rect">
            <a:avLst/>
          </a:prstGeom>
          <a:noFill/>
          <a:ln/>
        </p:spPr>
        <p:txBody>
          <a:bodyPr wrap="square" rtlCol="0" anchor="ctr"/>
          <a:lstStyle/>
          <a:p>
            <a:pPr marL="0" indent="0" algn="r">
              <a:buNone/>
            </a:pPr>
            <a:r>
              <a:rPr lang="en-US" sz="1000" dirty="0">
                <a:solidFill>
                  <a:srgbClr val="9AA3C2"/>
                </a:solidFill>
                <a:latin typeface="Calibri" pitchFamily="34" charset="0"/>
                <a:ea typeface="Calibri" pitchFamily="34" charset="-122"/>
                <a:cs typeface="Calibri" pitchFamily="34" charset="-120"/>
              </a:rPr>
              <a:t>7 / 10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6FC"/>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MODERATE SCALABILITY</a:t>
            </a:r>
            <a:endParaRPr lang="en-US" sz="1200" dirty="0"/>
          </a:p>
        </p:txBody>
      </p:sp>
      <p:sp>
        <p:nvSpPr>
          <p:cNvPr id="3" name="Text 1"/>
          <p:cNvSpPr/>
          <p:nvPr/>
        </p:nvSpPr>
        <p:spPr>
          <a:xfrm>
            <a:off x="548640" y="713232"/>
            <a:ext cx="11094415" cy="685800"/>
          </a:xfrm>
          <a:prstGeom prst="rect">
            <a:avLst/>
          </a:prstGeom>
          <a:noFill/>
          <a:ln/>
        </p:spPr>
        <p:txBody>
          <a:bodyPr wrap="square" rtlCol="0" anchor="ctr"/>
          <a:lstStyle/>
          <a:p>
            <a:pPr marL="0" indent="0">
              <a:buNone/>
            </a:pPr>
            <a:r>
              <a:rPr lang="en-US" sz="3200" b="1" dirty="0">
                <a:solidFill>
                  <a:srgbClr val="141B49"/>
                </a:solidFill>
                <a:latin typeface="Cambria" pitchFamily="34" charset="0"/>
                <a:ea typeface="Cambria" pitchFamily="34" charset="-122"/>
                <a:cs typeface="Cambria" pitchFamily="34" charset="-120"/>
              </a:rPr>
              <a:t>O(n log n) and O(n²): Use With Care</a:t>
            </a:r>
            <a:endParaRPr lang="en-US" sz="3200" dirty="0"/>
          </a:p>
        </p:txBody>
      </p:sp>
      <p:sp>
        <p:nvSpPr>
          <p:cNvPr id="4" name="Shape 2"/>
          <p:cNvSpPr/>
          <p:nvPr/>
        </p:nvSpPr>
        <p:spPr>
          <a:xfrm>
            <a:off x="548640" y="1737360"/>
            <a:ext cx="5272888" cy="4206240"/>
          </a:xfrm>
          <a:prstGeom prst="roundRect">
            <a:avLst>
              <a:gd name="adj" fmla="val 1739"/>
            </a:avLst>
          </a:prstGeom>
          <a:solidFill>
            <a:srgbClr val="FFFFFF"/>
          </a:solidFill>
          <a:ln w="12700">
            <a:solidFill>
              <a:srgbClr val="E1E5F5"/>
            </a:solidFill>
            <a:prstDash val="solid"/>
          </a:ln>
          <a:effectLst>
            <a:outerShdw blurRad="76200" dist="38100" dir="5400000" algn="bl" rotWithShape="0">
              <a:srgbClr val="1E2761">
                <a:alpha val="12000"/>
              </a:srgbClr>
            </a:outerShdw>
          </a:effectLst>
        </p:spPr>
      </p:sp>
      <p:sp>
        <p:nvSpPr>
          <p:cNvPr id="5" name="Shape 3"/>
          <p:cNvSpPr/>
          <p:nvPr/>
        </p:nvSpPr>
        <p:spPr>
          <a:xfrm>
            <a:off x="868680" y="2057400"/>
            <a:ext cx="548640" cy="548640"/>
          </a:xfrm>
          <a:prstGeom prst="ellipse">
            <a:avLst/>
          </a:prstGeom>
          <a:solidFill>
            <a:srgbClr val="C99A2E"/>
          </a:solidFill>
          <a:ln/>
        </p:spPr>
      </p:sp>
      <p:sp>
        <p:nvSpPr>
          <p:cNvPr id="6" name="Text 4"/>
          <p:cNvSpPr/>
          <p:nvPr/>
        </p:nvSpPr>
        <p:spPr>
          <a:xfrm>
            <a:off x="868680" y="2057400"/>
            <a:ext cx="548640" cy="548640"/>
          </a:xfrm>
          <a:prstGeom prst="rect">
            <a:avLst/>
          </a:prstGeom>
          <a:noFill/>
          <a:ln/>
        </p:spPr>
        <p:txBody>
          <a:bodyPr wrap="square" rtlCol="0" anchor="ctr"/>
          <a:lstStyle/>
          <a:p>
            <a:pPr marL="0" indent="0" algn="ctr">
              <a:buNone/>
            </a:pPr>
            <a:r>
              <a:rPr lang="en-US" sz="1320" b="1" dirty="0">
                <a:solidFill>
                  <a:srgbClr val="FFFFFF"/>
                </a:solidFill>
                <a:latin typeface="Cambria" pitchFamily="34" charset="0"/>
                <a:ea typeface="Cambria" pitchFamily="34" charset="-122"/>
                <a:cs typeface="Cambria" pitchFamily="34" charset="-120"/>
              </a:rPr>
              <a:t>S</a:t>
            </a:r>
            <a:endParaRPr lang="en-US" sz="1320" dirty="0"/>
          </a:p>
        </p:txBody>
      </p:sp>
      <p:sp>
        <p:nvSpPr>
          <p:cNvPr id="7" name="Text 5"/>
          <p:cNvSpPr/>
          <p:nvPr/>
        </p:nvSpPr>
        <p:spPr>
          <a:xfrm>
            <a:off x="1554480" y="2103120"/>
            <a:ext cx="3992728" cy="502920"/>
          </a:xfrm>
          <a:prstGeom prst="rect">
            <a:avLst/>
          </a:prstGeom>
          <a:noFill/>
          <a:ln/>
        </p:spPr>
        <p:txBody>
          <a:bodyPr wrap="square" rtlCol="0" anchor="ctr"/>
          <a:lstStyle/>
          <a:p>
            <a:pPr marL="0" indent="0">
              <a:buNone/>
            </a:pPr>
            <a:r>
              <a:rPr lang="en-US" sz="1650" b="1" dirty="0">
                <a:solidFill>
                  <a:srgbClr val="141B49"/>
                </a:solidFill>
                <a:latin typeface="Cambria" pitchFamily="34" charset="0"/>
                <a:ea typeface="Cambria" pitchFamily="34" charset="-122"/>
                <a:cs typeface="Cambria" pitchFamily="34" charset="-120"/>
              </a:rPr>
              <a:t>O(n log n) — Linearithmic</a:t>
            </a:r>
            <a:endParaRPr lang="en-US" sz="1650" dirty="0"/>
          </a:p>
        </p:txBody>
      </p:sp>
      <p:sp>
        <p:nvSpPr>
          <p:cNvPr id="8" name="Text 6"/>
          <p:cNvSpPr/>
          <p:nvPr/>
        </p:nvSpPr>
        <p:spPr>
          <a:xfrm>
            <a:off x="914400" y="2880360"/>
            <a:ext cx="4541368" cy="1143000"/>
          </a:xfrm>
          <a:prstGeom prst="rect">
            <a:avLst/>
          </a:prstGeom>
          <a:noFill/>
          <a:ln/>
        </p:spPr>
        <p:txBody>
          <a:bodyPr wrap="square" rtlCol="0" anchor="ctr"/>
          <a:lstStyle/>
          <a:p>
            <a:pPr marL="0" indent="0">
              <a:lnSpc>
                <a:spcPts val="1900"/>
              </a:lnSpc>
              <a:buNone/>
            </a:pPr>
            <a:r>
              <a:rPr lang="en-US" sz="1350" dirty="0">
                <a:solidFill>
                  <a:srgbClr val="5A6482"/>
                </a:solidFill>
                <a:latin typeface="Calibri" pitchFamily="34" charset="0"/>
                <a:ea typeface="Calibri" pitchFamily="34" charset="-122"/>
                <a:cs typeface="Calibri" pitchFamily="34" charset="-120"/>
              </a:rPr>
              <a:t>Slightly worse than linear, but still comfortably handles very large datasets. The standard for efficient, general-purpose sorting.</a:t>
            </a:r>
            <a:endParaRPr lang="en-US" sz="1350" dirty="0"/>
          </a:p>
        </p:txBody>
      </p:sp>
      <p:sp>
        <p:nvSpPr>
          <p:cNvPr id="9" name="Shape 7"/>
          <p:cNvSpPr/>
          <p:nvPr/>
        </p:nvSpPr>
        <p:spPr>
          <a:xfrm>
            <a:off x="914400" y="4160520"/>
            <a:ext cx="4541368" cy="1417320"/>
          </a:xfrm>
          <a:prstGeom prst="roundRect">
            <a:avLst>
              <a:gd name="adj" fmla="val 3871"/>
            </a:avLst>
          </a:prstGeom>
          <a:solidFill>
            <a:srgbClr val="EEF1FB"/>
          </a:solidFill>
          <a:ln/>
        </p:spPr>
      </p:sp>
      <p:sp>
        <p:nvSpPr>
          <p:cNvPr id="10" name="Text 8"/>
          <p:cNvSpPr/>
          <p:nvPr/>
        </p:nvSpPr>
        <p:spPr>
          <a:xfrm>
            <a:off x="1097280" y="4325112"/>
            <a:ext cx="4175608" cy="1097280"/>
          </a:xfrm>
          <a:prstGeom prst="rect">
            <a:avLst/>
          </a:prstGeom>
          <a:noFill/>
          <a:ln/>
        </p:spPr>
        <p:txBody>
          <a:bodyPr wrap="square" rtlCol="0" anchor="ctr"/>
          <a:lstStyle/>
          <a:p>
            <a:pPr marL="0" indent="0">
              <a:lnSpc>
                <a:spcPts val="1800"/>
              </a:lnSpc>
              <a:buNone/>
            </a:pPr>
            <a:r>
              <a:rPr lang="en-US" sz="1250" i="1" dirty="0">
                <a:solidFill>
                  <a:srgbClr val="141B49"/>
                </a:solidFill>
                <a:latin typeface="Calibri" pitchFamily="34" charset="0"/>
                <a:ea typeface="Calibri" pitchFamily="34" charset="-122"/>
                <a:cs typeface="Calibri" pitchFamily="34" charset="-120"/>
              </a:rPr>
              <a:t>Example: merge sort or quicksort on 1,000,000 items — about 20,000,000 operations. Still fast.</a:t>
            </a:r>
            <a:endParaRPr lang="en-US" sz="1250" dirty="0"/>
          </a:p>
        </p:txBody>
      </p:sp>
      <p:sp>
        <p:nvSpPr>
          <p:cNvPr id="11" name="Shape 9"/>
          <p:cNvSpPr/>
          <p:nvPr/>
        </p:nvSpPr>
        <p:spPr>
          <a:xfrm>
            <a:off x="6370168" y="1737360"/>
            <a:ext cx="5272888" cy="4206240"/>
          </a:xfrm>
          <a:prstGeom prst="roundRect">
            <a:avLst>
              <a:gd name="adj" fmla="val 1739"/>
            </a:avLst>
          </a:prstGeom>
          <a:solidFill>
            <a:srgbClr val="FFFFFF"/>
          </a:solidFill>
          <a:ln w="12700">
            <a:solidFill>
              <a:srgbClr val="E1E5F5"/>
            </a:solidFill>
            <a:prstDash val="solid"/>
          </a:ln>
          <a:effectLst>
            <a:outerShdw blurRad="76200" dist="38100" dir="5400000" algn="bl" rotWithShape="0">
              <a:srgbClr val="1E2761">
                <a:alpha val="12000"/>
              </a:srgbClr>
            </a:outerShdw>
          </a:effectLst>
        </p:spPr>
      </p:sp>
      <p:sp>
        <p:nvSpPr>
          <p:cNvPr id="12" name="Shape 10"/>
          <p:cNvSpPr/>
          <p:nvPr/>
        </p:nvSpPr>
        <p:spPr>
          <a:xfrm>
            <a:off x="6690208" y="2057400"/>
            <a:ext cx="548640" cy="548640"/>
          </a:xfrm>
          <a:prstGeom prst="ellipse">
            <a:avLst/>
          </a:prstGeom>
          <a:solidFill>
            <a:srgbClr val="E8622C"/>
          </a:solidFill>
          <a:ln/>
        </p:spPr>
      </p:sp>
      <p:sp>
        <p:nvSpPr>
          <p:cNvPr id="13" name="Text 11"/>
          <p:cNvSpPr/>
          <p:nvPr/>
        </p:nvSpPr>
        <p:spPr>
          <a:xfrm>
            <a:off x="6690208" y="2057400"/>
            <a:ext cx="548640" cy="548640"/>
          </a:xfrm>
          <a:prstGeom prst="rect">
            <a:avLst/>
          </a:prstGeom>
          <a:noFill/>
          <a:ln/>
        </p:spPr>
        <p:txBody>
          <a:bodyPr wrap="square" rtlCol="0" anchor="ctr"/>
          <a:lstStyle/>
          <a:p>
            <a:pPr marL="0" indent="0" algn="ctr">
              <a:buNone/>
            </a:pPr>
            <a:r>
              <a:rPr lang="en-US" sz="1320" b="1" dirty="0">
                <a:solidFill>
                  <a:srgbClr val="FFFFFF"/>
                </a:solidFill>
                <a:latin typeface="Cambria" pitchFamily="34" charset="0"/>
                <a:ea typeface="Cambria" pitchFamily="34" charset="-122"/>
                <a:cs typeface="Cambria" pitchFamily="34" charset="-120"/>
              </a:rPr>
              <a:t>Q</a:t>
            </a:r>
            <a:endParaRPr lang="en-US" sz="1320" dirty="0"/>
          </a:p>
        </p:txBody>
      </p:sp>
      <p:sp>
        <p:nvSpPr>
          <p:cNvPr id="14" name="Text 12"/>
          <p:cNvSpPr/>
          <p:nvPr/>
        </p:nvSpPr>
        <p:spPr>
          <a:xfrm>
            <a:off x="7376008" y="2103120"/>
            <a:ext cx="3992728" cy="502920"/>
          </a:xfrm>
          <a:prstGeom prst="rect">
            <a:avLst/>
          </a:prstGeom>
          <a:noFill/>
          <a:ln/>
        </p:spPr>
        <p:txBody>
          <a:bodyPr wrap="square" rtlCol="0" anchor="ctr"/>
          <a:lstStyle/>
          <a:p>
            <a:pPr marL="0" indent="0">
              <a:buNone/>
            </a:pPr>
            <a:r>
              <a:rPr lang="en-US" sz="1650" b="1" dirty="0">
                <a:solidFill>
                  <a:srgbClr val="141B49"/>
                </a:solidFill>
                <a:latin typeface="Cambria" pitchFamily="34" charset="0"/>
                <a:ea typeface="Cambria" pitchFamily="34" charset="-122"/>
                <a:cs typeface="Cambria" pitchFamily="34" charset="-120"/>
              </a:rPr>
              <a:t>O(n²) — Quadratic</a:t>
            </a:r>
            <a:endParaRPr lang="en-US" sz="1650" dirty="0"/>
          </a:p>
        </p:txBody>
      </p:sp>
      <p:sp>
        <p:nvSpPr>
          <p:cNvPr id="15" name="Text 13"/>
          <p:cNvSpPr/>
          <p:nvPr/>
        </p:nvSpPr>
        <p:spPr>
          <a:xfrm>
            <a:off x="6735928" y="2880360"/>
            <a:ext cx="4541368" cy="1143000"/>
          </a:xfrm>
          <a:prstGeom prst="rect">
            <a:avLst/>
          </a:prstGeom>
          <a:noFill/>
          <a:ln/>
        </p:spPr>
        <p:txBody>
          <a:bodyPr wrap="square" rtlCol="0" anchor="ctr"/>
          <a:lstStyle/>
          <a:p>
            <a:pPr marL="0" indent="0">
              <a:lnSpc>
                <a:spcPts val="1900"/>
              </a:lnSpc>
              <a:buNone/>
            </a:pPr>
            <a:r>
              <a:rPr lang="en-US" sz="1350" dirty="0">
                <a:solidFill>
                  <a:srgbClr val="5A6482"/>
                </a:solidFill>
                <a:latin typeface="Calibri" pitchFamily="34" charset="0"/>
                <a:ea typeface="Calibri" pitchFamily="34" charset="-122"/>
                <a:cs typeface="Calibri" pitchFamily="34" charset="-120"/>
              </a:rPr>
              <a:t>Nested loops over the input cause work to grow with the square of n. Fine for small inputs, costly beyond a few thousand.</a:t>
            </a:r>
            <a:endParaRPr lang="en-US" sz="1350" dirty="0"/>
          </a:p>
        </p:txBody>
      </p:sp>
      <p:sp>
        <p:nvSpPr>
          <p:cNvPr id="16" name="Shape 14"/>
          <p:cNvSpPr/>
          <p:nvPr/>
        </p:nvSpPr>
        <p:spPr>
          <a:xfrm>
            <a:off x="6735928" y="4160520"/>
            <a:ext cx="4541368" cy="1417320"/>
          </a:xfrm>
          <a:prstGeom prst="roundRect">
            <a:avLst>
              <a:gd name="adj" fmla="val 3871"/>
            </a:avLst>
          </a:prstGeom>
          <a:solidFill>
            <a:srgbClr val="EEF1FB"/>
          </a:solidFill>
          <a:ln/>
        </p:spPr>
      </p:sp>
      <p:sp>
        <p:nvSpPr>
          <p:cNvPr id="17" name="Text 15"/>
          <p:cNvSpPr/>
          <p:nvPr/>
        </p:nvSpPr>
        <p:spPr>
          <a:xfrm>
            <a:off x="6918808" y="4325112"/>
            <a:ext cx="4175608" cy="1097280"/>
          </a:xfrm>
          <a:prstGeom prst="rect">
            <a:avLst/>
          </a:prstGeom>
          <a:noFill/>
          <a:ln/>
        </p:spPr>
        <p:txBody>
          <a:bodyPr wrap="square" rtlCol="0" anchor="ctr"/>
          <a:lstStyle/>
          <a:p>
            <a:pPr marL="0" indent="0">
              <a:lnSpc>
                <a:spcPts val="1800"/>
              </a:lnSpc>
              <a:buNone/>
            </a:pPr>
            <a:r>
              <a:rPr lang="en-US" sz="1250" i="1" dirty="0">
                <a:solidFill>
                  <a:srgbClr val="141B49"/>
                </a:solidFill>
                <a:latin typeface="Calibri" pitchFamily="34" charset="0"/>
                <a:ea typeface="Calibri" pitchFamily="34" charset="-122"/>
                <a:cs typeface="Calibri" pitchFamily="34" charset="-120"/>
              </a:rPr>
              <a:t>Example: bubble sort on 10,000 items — about 100,000,000 operations. Already sluggish.</a:t>
            </a:r>
            <a:endParaRPr lang="en-US" sz="1250" dirty="0"/>
          </a:p>
        </p:txBody>
      </p:sp>
      <p:sp>
        <p:nvSpPr>
          <p:cNvPr id="18" name="Text 16"/>
          <p:cNvSpPr/>
          <p:nvPr/>
        </p:nvSpPr>
        <p:spPr>
          <a:xfrm>
            <a:off x="548640" y="6126480"/>
            <a:ext cx="11094415" cy="365760"/>
          </a:xfrm>
          <a:prstGeom prst="rect">
            <a:avLst/>
          </a:prstGeom>
          <a:noFill/>
          <a:ln/>
        </p:spPr>
        <p:txBody>
          <a:bodyPr wrap="square" rtlCol="0" anchor="ctr"/>
          <a:lstStyle/>
          <a:p>
            <a:pPr marL="0" indent="0">
              <a:buNone/>
            </a:pPr>
            <a:r>
              <a:rPr lang="en-US" sz="1250" i="1" dirty="0">
                <a:solidFill>
                  <a:srgbClr val="5A6482"/>
                </a:solidFill>
                <a:latin typeface="Calibri" pitchFamily="34" charset="0"/>
                <a:ea typeface="Calibri" pitchFamily="34" charset="-122"/>
                <a:cs typeface="Calibri" pitchFamily="34" charset="-120"/>
              </a:rPr>
              <a:t>O(n²) algorithms are workable for small or one-off datasets, but should be replaced once n regularly exceeds a few thousand.</a:t>
            </a:r>
            <a:endParaRPr lang="en-US" sz="1250" dirty="0"/>
          </a:p>
        </p:txBody>
      </p:sp>
      <p:sp>
        <p:nvSpPr>
          <p:cNvPr id="19" name="Text 17"/>
          <p:cNvSpPr/>
          <p:nvPr/>
        </p:nvSpPr>
        <p:spPr>
          <a:xfrm>
            <a:off x="11094415" y="6446520"/>
            <a:ext cx="822960" cy="274320"/>
          </a:xfrm>
          <a:prstGeom prst="rect">
            <a:avLst/>
          </a:prstGeom>
          <a:noFill/>
          <a:ln/>
        </p:spPr>
        <p:txBody>
          <a:bodyPr wrap="square" rtlCol="0" anchor="ctr"/>
          <a:lstStyle/>
          <a:p>
            <a:pPr marL="0" indent="0" algn="r">
              <a:buNone/>
            </a:pPr>
            <a:r>
              <a:rPr lang="en-US" sz="1000" dirty="0">
                <a:solidFill>
                  <a:srgbClr val="9AA3C2"/>
                </a:solidFill>
                <a:latin typeface="Calibri" pitchFamily="34" charset="0"/>
                <a:ea typeface="Calibri" pitchFamily="34" charset="-122"/>
                <a:cs typeface="Calibri" pitchFamily="34" charset="-120"/>
              </a:rPr>
              <a:t>8 / 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41B49"/>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CADCFC"/>
                </a:solidFill>
                <a:latin typeface="Calibri" pitchFamily="34" charset="0"/>
                <a:ea typeface="Calibri" pitchFamily="34" charset="-122"/>
                <a:cs typeface="Calibri" pitchFamily="34" charset="-120"/>
              </a:rPr>
              <a:t>IMPRACTICAL AT SCALE</a:t>
            </a:r>
            <a:endParaRPr lang="en-US" sz="1200" dirty="0"/>
          </a:p>
        </p:txBody>
      </p:sp>
      <p:sp>
        <p:nvSpPr>
          <p:cNvPr id="3" name="Text 1"/>
          <p:cNvSpPr/>
          <p:nvPr/>
        </p:nvSpPr>
        <p:spPr>
          <a:xfrm>
            <a:off x="548640" y="713232"/>
            <a:ext cx="11094415" cy="685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O(2</a:t>
            </a:r>
            <a:r>
              <a:rPr lang="en-US" sz="3200" b="1" baseline="30000" dirty="0">
                <a:solidFill>
                  <a:srgbClr val="FFFFFF"/>
                </a:solidFill>
                <a:latin typeface="Cambria" pitchFamily="34" charset="0"/>
                <a:ea typeface="Cambria" pitchFamily="34" charset="-122"/>
                <a:cs typeface="Cambria" pitchFamily="34" charset="-120"/>
              </a:rPr>
              <a:t>n</a:t>
            </a:r>
            <a:r>
              <a:rPr lang="en-US" sz="3200" b="1" dirty="0">
                <a:solidFill>
                  <a:srgbClr val="FFFFFF"/>
                </a:solidFill>
                <a:latin typeface="Cambria" pitchFamily="34" charset="0"/>
                <a:ea typeface="Cambria" pitchFamily="34" charset="-122"/>
                <a:cs typeface="Cambria" pitchFamily="34" charset="-120"/>
              </a:rPr>
              <a:t>): The Exponential Wall</a:t>
            </a:r>
            <a:endParaRPr lang="en-US" sz="3200" dirty="0"/>
          </a:p>
        </p:txBody>
      </p:sp>
      <p:sp>
        <p:nvSpPr>
          <p:cNvPr id="4" name="Text 2"/>
          <p:cNvSpPr/>
          <p:nvPr/>
        </p:nvSpPr>
        <p:spPr>
          <a:xfrm>
            <a:off x="548640" y="1508760"/>
            <a:ext cx="6766560" cy="1188720"/>
          </a:xfrm>
          <a:prstGeom prst="rect">
            <a:avLst/>
          </a:prstGeom>
          <a:noFill/>
          <a:ln/>
        </p:spPr>
        <p:txBody>
          <a:bodyPr wrap="square" rtlCol="0" anchor="ctr"/>
          <a:lstStyle/>
          <a:p>
            <a:pPr marL="0" indent="0">
              <a:lnSpc>
                <a:spcPts val="2100"/>
              </a:lnSpc>
              <a:buNone/>
            </a:pPr>
            <a:r>
              <a:rPr lang="en-US" sz="1450" dirty="0">
                <a:solidFill>
                  <a:srgbClr val="CADCFC"/>
                </a:solidFill>
                <a:latin typeface="Calibri" pitchFamily="34" charset="0"/>
                <a:ea typeface="Calibri" pitchFamily="34" charset="-122"/>
                <a:cs typeface="Calibri" pitchFamily="34" charset="-120"/>
              </a:rPr>
              <a:t>Exponential algorithms double their work with every single additional input element. They are only viable for very small n — typically under 25–30 — before runtime exceeds any practical limit.</a:t>
            </a:r>
            <a:endParaRPr lang="en-US" sz="1450" dirty="0"/>
          </a:p>
        </p:txBody>
      </p:sp>
      <p:sp>
        <p:nvSpPr>
          <p:cNvPr id="5" name="Text 3"/>
          <p:cNvSpPr/>
          <p:nvPr/>
        </p:nvSpPr>
        <p:spPr>
          <a:xfrm>
            <a:off x="548640" y="2743200"/>
            <a:ext cx="6400800" cy="32004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Typical use cases:</a:t>
            </a:r>
            <a:endParaRPr lang="en-US" sz="1300" dirty="0"/>
          </a:p>
        </p:txBody>
      </p:sp>
      <p:sp>
        <p:nvSpPr>
          <p:cNvPr id="6" name="Text 4"/>
          <p:cNvSpPr/>
          <p:nvPr/>
        </p:nvSpPr>
        <p:spPr>
          <a:xfrm>
            <a:off x="548640" y="3108960"/>
            <a:ext cx="6583680" cy="1737360"/>
          </a:xfrm>
          <a:prstGeom prst="rect">
            <a:avLst/>
          </a:prstGeom>
          <a:noFill/>
          <a:ln/>
        </p:spPr>
        <p:txBody>
          <a:bodyPr wrap="square" rtlCol="0" anchor="ctr"/>
          <a:lstStyle/>
          <a:p>
            <a:pPr marL="342900" indent="-342900">
              <a:lnSpc>
                <a:spcPts val="2200"/>
              </a:lnSpc>
              <a:spcAft>
                <a:spcPts val="600"/>
              </a:spcAft>
              <a:buSzPct val="100000"/>
              <a:buChar char="•"/>
            </a:pPr>
            <a:r>
              <a:rPr lang="en-US" sz="1350" dirty="0">
                <a:solidFill>
                  <a:srgbClr val="CADCFC"/>
                </a:solidFill>
                <a:latin typeface="Calibri" pitchFamily="34" charset="0"/>
                <a:ea typeface="Calibri" pitchFamily="34" charset="-122"/>
                <a:cs typeface="Calibri" pitchFamily="34" charset="-120"/>
              </a:rPr>
              <a:t>Generating all subsets of a set (power set)</a:t>
            </a:r>
            <a:endParaRPr lang="en-US" sz="1350" dirty="0"/>
          </a:p>
          <a:p>
            <a:pPr marL="342900" indent="-342900">
              <a:lnSpc>
                <a:spcPts val="2200"/>
              </a:lnSpc>
              <a:spcAft>
                <a:spcPts val="600"/>
              </a:spcAft>
              <a:buSzPct val="100000"/>
              <a:buChar char="•"/>
            </a:pPr>
            <a:r>
              <a:rPr lang="en-US" sz="1350" dirty="0">
                <a:solidFill>
                  <a:srgbClr val="CADCFC"/>
                </a:solidFill>
                <a:latin typeface="Calibri" pitchFamily="34" charset="0"/>
                <a:ea typeface="Calibri" pitchFamily="34" charset="-122"/>
                <a:cs typeface="Calibri" pitchFamily="34" charset="-120"/>
              </a:rPr>
              <a:t>Brute-force solutions to NP-hard problems</a:t>
            </a:r>
            <a:endParaRPr lang="en-US" sz="1350" dirty="0"/>
          </a:p>
          <a:p>
            <a:pPr marL="342900" indent="-342900">
              <a:lnSpc>
                <a:spcPts val="2200"/>
              </a:lnSpc>
              <a:spcAft>
                <a:spcPts val="600"/>
              </a:spcAft>
              <a:buSzPct val="100000"/>
              <a:buChar char="•"/>
            </a:pPr>
            <a:r>
              <a:rPr lang="en-US" sz="1350" dirty="0">
                <a:solidFill>
                  <a:srgbClr val="CADCFC"/>
                </a:solidFill>
                <a:latin typeface="Calibri" pitchFamily="34" charset="0"/>
                <a:ea typeface="Calibri" pitchFamily="34" charset="-122"/>
                <a:cs typeface="Calibri" pitchFamily="34" charset="-120"/>
              </a:rPr>
              <a:t>Naive recursive Fibonacci without memoization</a:t>
            </a:r>
            <a:endParaRPr lang="en-US" sz="1350" dirty="0"/>
          </a:p>
          <a:p>
            <a:pPr marL="342900" indent="-342900">
              <a:lnSpc>
                <a:spcPts val="2200"/>
              </a:lnSpc>
              <a:spcAft>
                <a:spcPts val="600"/>
              </a:spcAft>
              <a:buSzPct val="100000"/>
              <a:buChar char="•"/>
            </a:pPr>
            <a:r>
              <a:rPr lang="en-US" sz="1350" dirty="0">
                <a:solidFill>
                  <a:srgbClr val="CADCFC"/>
                </a:solidFill>
                <a:latin typeface="Calibri" pitchFamily="34" charset="0"/>
                <a:ea typeface="Calibri" pitchFamily="34" charset="-122"/>
                <a:cs typeface="Calibri" pitchFamily="34" charset="-120"/>
              </a:rPr>
              <a:t>Exhaustive search of combinatorial possibilities</a:t>
            </a:r>
            <a:endParaRPr lang="en-US" sz="1350" dirty="0"/>
          </a:p>
        </p:txBody>
      </p:sp>
      <p:sp>
        <p:nvSpPr>
          <p:cNvPr id="7" name="Shape 5"/>
          <p:cNvSpPr/>
          <p:nvPr/>
        </p:nvSpPr>
        <p:spPr>
          <a:xfrm>
            <a:off x="7772400" y="1508760"/>
            <a:ext cx="3840480" cy="4480560"/>
          </a:xfrm>
          <a:prstGeom prst="roundRect">
            <a:avLst>
              <a:gd name="adj" fmla="val 1905"/>
            </a:avLst>
          </a:prstGeom>
          <a:solidFill>
            <a:srgbClr val="1E2761"/>
          </a:solidFill>
          <a:ln w="19050">
            <a:solidFill>
              <a:srgbClr val="E8622C"/>
            </a:solidFill>
            <a:prstDash val="solid"/>
          </a:ln>
        </p:spPr>
      </p:sp>
      <p:sp>
        <p:nvSpPr>
          <p:cNvPr id="8" name="Text 6"/>
          <p:cNvSpPr/>
          <p:nvPr/>
        </p:nvSpPr>
        <p:spPr>
          <a:xfrm>
            <a:off x="8046720" y="1783080"/>
            <a:ext cx="3291840" cy="320040"/>
          </a:xfrm>
          <a:prstGeom prst="rect">
            <a:avLst/>
          </a:prstGeom>
          <a:noFill/>
          <a:ln/>
        </p:spPr>
        <p:txBody>
          <a:bodyPr wrap="square" rtlCol="0" anchor="ctr"/>
          <a:lstStyle/>
          <a:p>
            <a:pPr marL="0" indent="0">
              <a:buNone/>
            </a:pPr>
            <a:r>
              <a:rPr lang="en-US" sz="1200" b="1" kern="0" spc="200" dirty="0">
                <a:solidFill>
                  <a:srgbClr val="E8622C"/>
                </a:solidFill>
                <a:latin typeface="Calibri" pitchFamily="34" charset="0"/>
                <a:ea typeface="Calibri" pitchFamily="34" charset="-122"/>
                <a:cs typeface="Calibri" pitchFamily="34" charset="-120"/>
              </a:rPr>
              <a:t>AT n = 40</a:t>
            </a:r>
            <a:endParaRPr lang="en-US" sz="1200" dirty="0"/>
          </a:p>
        </p:txBody>
      </p:sp>
      <p:sp>
        <p:nvSpPr>
          <p:cNvPr id="9" name="Text 7"/>
          <p:cNvSpPr/>
          <p:nvPr/>
        </p:nvSpPr>
        <p:spPr>
          <a:xfrm>
            <a:off x="8046720" y="2103120"/>
            <a:ext cx="3291840" cy="6858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1.09 trillion</a:t>
            </a:r>
            <a:endParaRPr lang="en-US" sz="3000" dirty="0"/>
          </a:p>
        </p:txBody>
      </p:sp>
      <p:sp>
        <p:nvSpPr>
          <p:cNvPr id="10" name="Text 8"/>
          <p:cNvSpPr/>
          <p:nvPr/>
        </p:nvSpPr>
        <p:spPr>
          <a:xfrm>
            <a:off x="8046720" y="2724912"/>
            <a:ext cx="3291840" cy="320040"/>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operations required</a:t>
            </a:r>
            <a:endParaRPr lang="en-US" sz="1200" dirty="0"/>
          </a:p>
        </p:txBody>
      </p:sp>
      <p:sp>
        <p:nvSpPr>
          <p:cNvPr id="11" name="Shape 9"/>
          <p:cNvSpPr/>
          <p:nvPr/>
        </p:nvSpPr>
        <p:spPr>
          <a:xfrm>
            <a:off x="8046720" y="3246120"/>
            <a:ext cx="3291840" cy="0"/>
          </a:xfrm>
          <a:prstGeom prst="line">
            <a:avLst/>
          </a:prstGeom>
          <a:noFill/>
          <a:ln w="12700">
            <a:solidFill>
              <a:srgbClr val="3A4380"/>
            </a:solidFill>
            <a:prstDash val="solid"/>
          </a:ln>
        </p:spPr>
      </p:sp>
      <p:sp>
        <p:nvSpPr>
          <p:cNvPr id="12" name="Text 10"/>
          <p:cNvSpPr/>
          <p:nvPr/>
        </p:nvSpPr>
        <p:spPr>
          <a:xfrm>
            <a:off x="8046720" y="3429000"/>
            <a:ext cx="3291840" cy="320040"/>
          </a:xfrm>
          <a:prstGeom prst="rect">
            <a:avLst/>
          </a:prstGeom>
          <a:noFill/>
          <a:ln/>
        </p:spPr>
        <p:txBody>
          <a:bodyPr wrap="square" rtlCol="0" anchor="ctr"/>
          <a:lstStyle/>
          <a:p>
            <a:pPr marL="0" indent="0">
              <a:buNone/>
            </a:pPr>
            <a:r>
              <a:rPr lang="en-US" sz="1200" b="1" kern="0" spc="200" dirty="0">
                <a:solidFill>
                  <a:srgbClr val="E8622C"/>
                </a:solidFill>
                <a:latin typeface="Calibri" pitchFamily="34" charset="0"/>
                <a:ea typeface="Calibri" pitchFamily="34" charset="-122"/>
                <a:cs typeface="Calibri" pitchFamily="34" charset="-120"/>
              </a:rPr>
              <a:t>AT 1 BILLION OPS/SEC</a:t>
            </a:r>
            <a:endParaRPr lang="en-US" sz="1200" dirty="0"/>
          </a:p>
        </p:txBody>
      </p:sp>
      <p:sp>
        <p:nvSpPr>
          <p:cNvPr id="13" name="Text 11"/>
          <p:cNvSpPr/>
          <p:nvPr/>
        </p:nvSpPr>
        <p:spPr>
          <a:xfrm>
            <a:off x="8046720" y="3749040"/>
            <a:ext cx="3291840" cy="548640"/>
          </a:xfrm>
          <a:prstGeom prst="rect">
            <a:avLst/>
          </a:prstGeom>
          <a:noFill/>
          <a:ln/>
        </p:spPr>
        <p:txBody>
          <a:bodyPr wrap="square"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 18 minutes</a:t>
            </a:r>
            <a:endParaRPr lang="en-US" sz="2600" dirty="0"/>
          </a:p>
        </p:txBody>
      </p:sp>
      <p:sp>
        <p:nvSpPr>
          <p:cNvPr id="14" name="Text 12"/>
          <p:cNvSpPr/>
          <p:nvPr/>
        </p:nvSpPr>
        <p:spPr>
          <a:xfrm>
            <a:off x="8046720" y="4343400"/>
            <a:ext cx="3291840" cy="1280160"/>
          </a:xfrm>
          <a:prstGeom prst="rect">
            <a:avLst/>
          </a:prstGeom>
          <a:noFill/>
          <a:ln/>
        </p:spPr>
        <p:txBody>
          <a:bodyPr wrap="square" rtlCol="0" anchor="ctr"/>
          <a:lstStyle/>
          <a:p>
            <a:pPr marL="0" indent="0">
              <a:lnSpc>
                <a:spcPts val="1700"/>
              </a:lnSpc>
              <a:buNone/>
            </a:pPr>
            <a:r>
              <a:rPr lang="en-US" sz="1250" i="1" dirty="0">
                <a:solidFill>
                  <a:srgbClr val="CADCFC"/>
                </a:solidFill>
                <a:latin typeface="Calibri" pitchFamily="34" charset="0"/>
                <a:ea typeface="Calibri" pitchFamily="34" charset="-122"/>
                <a:cs typeface="Calibri" pitchFamily="34" charset="-120"/>
              </a:rPr>
              <a:t>just for n = 40. By n = 60, the same computer needs over 36,000 years.</a:t>
            </a:r>
            <a:endParaRPr lang="en-US" sz="1250" dirty="0"/>
          </a:p>
        </p:txBody>
      </p:sp>
      <p:sp>
        <p:nvSpPr>
          <p:cNvPr id="15" name="Text 13"/>
          <p:cNvSpPr/>
          <p:nvPr/>
        </p:nvSpPr>
        <p:spPr>
          <a:xfrm>
            <a:off x="11094415" y="6446520"/>
            <a:ext cx="822960" cy="274320"/>
          </a:xfrm>
          <a:prstGeom prst="rect">
            <a:avLst/>
          </a:prstGeom>
          <a:noFill/>
          <a:ln/>
        </p:spPr>
        <p:txBody>
          <a:bodyPr wrap="square" rtlCol="0" anchor="ctr"/>
          <a:lstStyle/>
          <a:p>
            <a:pPr marL="0" indent="0" algn="r">
              <a:buNone/>
            </a:pPr>
            <a:r>
              <a:rPr lang="en-US" sz="1000" dirty="0">
                <a:solidFill>
                  <a:srgbClr val="8891B5"/>
                </a:solidFill>
                <a:latin typeface="Calibri" pitchFamily="34" charset="0"/>
                <a:ea typeface="Calibri" pitchFamily="34" charset="-122"/>
                <a:cs typeface="Calibri" pitchFamily="34" charset="-120"/>
              </a:rPr>
              <a:t>9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41B49"/>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200" b="1" kern="0" spc="200" dirty="0">
                <a:solidFill>
                  <a:srgbClr val="CADCFC"/>
                </a:solidFill>
                <a:latin typeface="Calibri" pitchFamily="34" charset="0"/>
                <a:ea typeface="Calibri" pitchFamily="34" charset="-122"/>
                <a:cs typeface="Calibri" pitchFamily="34" charset="-120"/>
              </a:rPr>
              <a:t>CONCLUSION</a:t>
            </a:r>
            <a:endParaRPr lang="en-US" sz="1200" dirty="0"/>
          </a:p>
        </p:txBody>
      </p:sp>
      <p:sp>
        <p:nvSpPr>
          <p:cNvPr id="3" name="Text 1"/>
          <p:cNvSpPr/>
          <p:nvPr/>
        </p:nvSpPr>
        <p:spPr>
          <a:xfrm>
            <a:off x="548640" y="713232"/>
            <a:ext cx="11094415" cy="685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Linking Growth Behavior to Algorithm Selection</a:t>
            </a:r>
            <a:endParaRPr lang="en-US" sz="3200" dirty="0"/>
          </a:p>
        </p:txBody>
      </p:sp>
      <p:sp>
        <p:nvSpPr>
          <p:cNvPr id="4" name="Text 2"/>
          <p:cNvSpPr/>
          <p:nvPr/>
        </p:nvSpPr>
        <p:spPr>
          <a:xfrm>
            <a:off x="548640" y="1463040"/>
            <a:ext cx="11094415" cy="502920"/>
          </a:xfrm>
          <a:prstGeom prst="rect">
            <a:avLst/>
          </a:prstGeom>
          <a:noFill/>
          <a:ln/>
        </p:spPr>
        <p:txBody>
          <a:bodyPr wrap="square" rtlCol="0" anchor="ctr"/>
          <a:lstStyle/>
          <a:p>
            <a:pPr marL="0" indent="0">
              <a:buNone/>
            </a:pPr>
            <a:r>
              <a:rPr lang="en-US" sz="1350" dirty="0">
                <a:solidFill>
                  <a:srgbClr val="CADCFC"/>
                </a:solidFill>
                <a:latin typeface="Calibri" pitchFamily="34" charset="0"/>
                <a:ea typeface="Calibri" pitchFamily="34" charset="-122"/>
                <a:cs typeface="Calibri" pitchFamily="34" charset="-120"/>
              </a:rPr>
              <a:t>Growth rate should directly drive algorithm choice. The table below summarizes practical guidance for selecting an algorithm based on expected input size.</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11091672" cy="2743200"/>
        </p:xfrm>
        <a:graphic>
          <a:graphicData uri="http://schemas.openxmlformats.org/drawingml/2006/table">
            <a:tbl>
              <a:tblPr/>
              <a:tblGrid>
                <a:gridCol w="24688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6428232">
                  <a:extLst>
                    <a:ext uri="{9D8B030D-6E8A-4147-A177-3AD203B41FA5}">
                      <a16:colId xmlns:a16="http://schemas.microsoft.com/office/drawing/2014/main" val="20002"/>
                    </a:ext>
                  </a:extLst>
                </a:gridCol>
              </a:tblGrid>
              <a:tr h="54864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Growth Class</a:t>
                      </a:r>
                      <a:endParaRPr lang="en-US" sz="1250" dirty="0">
                        <a:latin typeface="Calibri" charset="0"/>
                        <a:ea typeface="Calibri" charset="0"/>
                        <a:cs typeface="Calibri" charset="0"/>
                      </a:endParaRPr>
                    </a:p>
                  </a:txBody>
                  <a:tcPr anchor="ctr">
                    <a:lnL w="12700" cap="flat" cmpd="sng" algn="ctr">
                      <a:solidFill>
                        <a:srgbClr val="3A4380"/>
                      </a:solidFill>
                      <a:prstDash val="solid"/>
                      <a:round/>
                      <a:headEnd type="none" w="med" len="med"/>
                      <a:tailEnd type="none" w="med" len="med"/>
                    </a:lnL>
                    <a:lnR w="12700" cap="flat" cmpd="sng" algn="ctr">
                      <a:solidFill>
                        <a:srgbClr val="3A4380"/>
                      </a:solidFill>
                      <a:prstDash val="solid"/>
                      <a:round/>
                      <a:headEnd type="none" w="med" len="med"/>
                      <a:tailEnd type="none" w="med" len="med"/>
                    </a:lnR>
                    <a:lnT w="12700" cap="flat" cmpd="sng" algn="ctr">
                      <a:solidFill>
                        <a:srgbClr val="3A4380"/>
                      </a:solidFill>
                      <a:prstDash val="solid"/>
                      <a:round/>
                      <a:headEnd type="none" w="med" len="med"/>
                      <a:tailEnd type="none" w="med" len="med"/>
                    </a:lnT>
                    <a:lnB w="12700" cap="flat" cmpd="sng" algn="ctr">
                      <a:solidFill>
                        <a:srgbClr val="3A4380"/>
                      </a:solidFill>
                      <a:prstDash val="solid"/>
                      <a:round/>
                      <a:headEnd type="none" w="med" len="med"/>
                      <a:tailEnd type="none" w="med" len="med"/>
                    </a:lnB>
                    <a:solidFill>
                      <a:srgbClr val="1E2761"/>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Practical Limit on n</a:t>
                      </a:r>
                      <a:endParaRPr lang="en-US" sz="1250" dirty="0">
                        <a:latin typeface="Calibri" charset="0"/>
                        <a:ea typeface="Calibri" charset="0"/>
                        <a:cs typeface="Calibri" charset="0"/>
                      </a:endParaRPr>
                    </a:p>
                  </a:txBody>
                  <a:tcPr anchor="ctr">
                    <a:lnL w="12700" cap="flat" cmpd="sng" algn="ctr">
                      <a:solidFill>
                        <a:srgbClr val="3A4380"/>
                      </a:solidFill>
                      <a:prstDash val="solid"/>
                      <a:round/>
                      <a:headEnd type="none" w="med" len="med"/>
                      <a:tailEnd type="none" w="med" len="med"/>
                    </a:lnL>
                    <a:lnR w="12700" cap="flat" cmpd="sng" algn="ctr">
                      <a:solidFill>
                        <a:srgbClr val="3A4380"/>
                      </a:solidFill>
                      <a:prstDash val="solid"/>
                      <a:round/>
                      <a:headEnd type="none" w="med" len="med"/>
                      <a:tailEnd type="none" w="med" len="med"/>
                    </a:lnR>
                    <a:lnT w="12700" cap="flat" cmpd="sng" algn="ctr">
                      <a:solidFill>
                        <a:srgbClr val="3A4380"/>
                      </a:solidFill>
                      <a:prstDash val="solid"/>
                      <a:round/>
                      <a:headEnd type="none" w="med" len="med"/>
                      <a:tailEnd type="none" w="med" len="med"/>
                    </a:lnT>
                    <a:lnB w="12700" cap="flat" cmpd="sng" algn="ctr">
                      <a:solidFill>
                        <a:srgbClr val="3A4380"/>
                      </a:solidFill>
                      <a:prstDash val="solid"/>
                      <a:round/>
                      <a:headEnd type="none" w="med" len="med"/>
                      <a:tailEnd type="none" w="med" len="med"/>
                    </a:lnB>
                    <a:solidFill>
                      <a:srgbClr val="1E2761"/>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Recommendation</a:t>
                      </a:r>
                      <a:endParaRPr lang="en-US" sz="1250" dirty="0">
                        <a:latin typeface="Calibri" charset="0"/>
                        <a:ea typeface="Calibri" charset="0"/>
                        <a:cs typeface="Calibri" charset="0"/>
                      </a:endParaRPr>
                    </a:p>
                  </a:txBody>
                  <a:tcPr anchor="ctr">
                    <a:lnL w="12700" cap="flat" cmpd="sng" algn="ctr">
                      <a:solidFill>
                        <a:srgbClr val="3A4380"/>
                      </a:solidFill>
                      <a:prstDash val="solid"/>
                      <a:round/>
                      <a:headEnd type="none" w="med" len="med"/>
                      <a:tailEnd type="none" w="med" len="med"/>
                    </a:lnL>
                    <a:lnR w="12700" cap="flat" cmpd="sng" algn="ctr">
                      <a:solidFill>
                        <a:srgbClr val="3A4380"/>
                      </a:solidFill>
                      <a:prstDash val="solid"/>
                      <a:round/>
                      <a:headEnd type="none" w="med" len="med"/>
                      <a:tailEnd type="none" w="med" len="med"/>
                    </a:lnR>
                    <a:lnT w="12700" cap="flat" cmpd="sng" algn="ctr">
                      <a:solidFill>
                        <a:srgbClr val="3A4380"/>
                      </a:solidFill>
                      <a:prstDash val="solid"/>
                      <a:round/>
                      <a:headEnd type="none" w="med" len="med"/>
                      <a:tailEnd type="none" w="med" len="med"/>
                    </a:lnT>
                    <a:lnB w="12700" cap="flat" cmpd="sng" algn="ctr">
                      <a:solidFill>
                        <a:srgbClr val="3A438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48640">
                <a:tc>
                  <a:txBody>
                    <a:bodyPr/>
                    <a:lstStyle/>
                    <a:p>
                      <a:pPr marL="0" indent="0">
                        <a:buNone/>
                      </a:pPr>
                      <a:r>
                        <a:rPr lang="en-US" sz="1300" b="1" dirty="0">
                          <a:solidFill>
                            <a:srgbClr val="FFFFFF"/>
                          </a:solidFill>
                          <a:latin typeface="Cambria" pitchFamily="34" charset="0"/>
                          <a:ea typeface="Cambria" pitchFamily="34" charset="-122"/>
                          <a:cs typeface="Cambria" pitchFamily="34" charset="-120"/>
                        </a:rPr>
                        <a:t>O(log n) / O(n)</a:t>
                      </a:r>
                      <a:endParaRPr lang="en-US" sz="1300" dirty="0">
                        <a:latin typeface="Cambria" charset="0"/>
                        <a:ea typeface="Cambria" charset="0"/>
                        <a:cs typeface="Cambria" charset="0"/>
                      </a:endParaRPr>
                    </a:p>
                  </a:txBody>
                  <a:tcPr anchor="ctr">
                    <a:lnL w="12700" cap="flat" cmpd="sng" algn="ctr">
                      <a:solidFill>
                        <a:srgbClr val="3A4380"/>
                      </a:solidFill>
                      <a:prstDash val="solid"/>
                      <a:round/>
                      <a:headEnd type="none" w="med" len="med"/>
                      <a:tailEnd type="none" w="med" len="med"/>
                    </a:lnL>
                    <a:lnR w="12700" cap="flat" cmpd="sng" algn="ctr">
                      <a:solidFill>
                        <a:srgbClr val="3A4380"/>
                      </a:solidFill>
                      <a:prstDash val="solid"/>
                      <a:round/>
                      <a:headEnd type="none" w="med" len="med"/>
                      <a:tailEnd type="none" w="med" len="med"/>
                    </a:lnR>
                    <a:lnT w="12700" cap="flat" cmpd="sng" algn="ctr">
                      <a:solidFill>
                        <a:srgbClr val="3A4380"/>
                      </a:solidFill>
                      <a:prstDash val="solid"/>
                      <a:round/>
                      <a:headEnd type="none" w="med" len="med"/>
                      <a:tailEnd type="none" w="med" len="med"/>
                    </a:lnT>
                    <a:lnB w="12700" cap="flat" cmpd="sng" algn="ctr">
                      <a:solidFill>
                        <a:srgbClr val="3A4380"/>
                      </a:solidFill>
                      <a:prstDash val="solid"/>
                      <a:round/>
                      <a:headEnd type="none" w="med" len="med"/>
                      <a:tailEnd type="none" w="med" len="med"/>
                    </a:lnB>
                    <a:solidFill>
                      <a:srgbClr val="263080"/>
                    </a:solidFill>
                  </a:tcPr>
                </a:tc>
                <a:tc>
                  <a:txBody>
                    <a:bodyPr/>
                    <a:lstStyle/>
                    <a:p>
                      <a:pPr marL="0" indent="0">
                        <a:buNone/>
                      </a:pPr>
                      <a:r>
                        <a:rPr lang="en-US" sz="1250" dirty="0">
                          <a:solidFill>
                            <a:srgbClr val="CADCFC"/>
                          </a:solidFill>
                          <a:latin typeface="Calibri" pitchFamily="34" charset="0"/>
                          <a:ea typeface="Calibri" pitchFamily="34" charset="-122"/>
                          <a:cs typeface="Calibri" pitchFamily="34" charset="-120"/>
                        </a:rPr>
                        <a:t>Billions+</a:t>
                      </a:r>
                      <a:endParaRPr lang="en-US" sz="1250" dirty="0">
                        <a:latin typeface="Calibri" charset="0"/>
                        <a:ea typeface="Calibri" charset="0"/>
                        <a:cs typeface="Calibri" charset="0"/>
                      </a:endParaRPr>
                    </a:p>
                  </a:txBody>
                  <a:tcPr anchor="ctr">
                    <a:lnL w="12700" cap="flat" cmpd="sng" algn="ctr">
                      <a:solidFill>
                        <a:srgbClr val="3A4380"/>
                      </a:solidFill>
                      <a:prstDash val="solid"/>
                      <a:round/>
                      <a:headEnd type="none" w="med" len="med"/>
                      <a:tailEnd type="none" w="med" len="med"/>
                    </a:lnL>
                    <a:lnR w="12700" cap="flat" cmpd="sng" algn="ctr">
                      <a:solidFill>
                        <a:srgbClr val="3A4380"/>
                      </a:solidFill>
                      <a:prstDash val="solid"/>
                      <a:round/>
                      <a:headEnd type="none" w="med" len="med"/>
                      <a:tailEnd type="none" w="med" len="med"/>
                    </a:lnR>
                    <a:lnT w="12700" cap="flat" cmpd="sng" algn="ctr">
                      <a:solidFill>
                        <a:srgbClr val="3A4380"/>
                      </a:solidFill>
                      <a:prstDash val="solid"/>
                      <a:round/>
                      <a:headEnd type="none" w="med" len="med"/>
                      <a:tailEnd type="none" w="med" len="med"/>
                    </a:lnT>
                    <a:lnB w="12700" cap="flat" cmpd="sng" algn="ctr">
                      <a:solidFill>
                        <a:srgbClr val="3A4380"/>
                      </a:solidFill>
                      <a:prstDash val="solid"/>
                      <a:round/>
                      <a:headEnd type="none" w="med" len="med"/>
                      <a:tailEnd type="none" w="med" len="med"/>
                    </a:lnB>
                    <a:solidFill>
                      <a:srgbClr val="263080"/>
                    </a:solidFill>
                  </a:tcPr>
                </a:tc>
                <a:tc>
                  <a:txBody>
                    <a:bodyPr/>
                    <a:lstStyle/>
                    <a:p>
                      <a:pPr marL="0" indent="0">
                        <a:buNone/>
                      </a:pPr>
                      <a:r>
                        <a:rPr lang="en-US" sz="1250" dirty="0">
                          <a:solidFill>
                            <a:srgbClr val="CADCFC"/>
                          </a:solidFill>
                          <a:latin typeface="Calibri" pitchFamily="34" charset="0"/>
                          <a:ea typeface="Calibri" pitchFamily="34" charset="-122"/>
                          <a:cs typeface="Calibri" pitchFamily="34" charset="-120"/>
                        </a:rPr>
                        <a:t>Ideal — use whenever available (e.g., sorted search, single-pass scans)</a:t>
                      </a:r>
                      <a:endParaRPr lang="en-US" sz="1250" dirty="0">
                        <a:latin typeface="Calibri" charset="0"/>
                        <a:ea typeface="Calibri" charset="0"/>
                        <a:cs typeface="Calibri" charset="0"/>
                      </a:endParaRPr>
                    </a:p>
                  </a:txBody>
                  <a:tcPr anchor="ctr">
                    <a:lnL w="12700" cap="flat" cmpd="sng" algn="ctr">
                      <a:solidFill>
                        <a:srgbClr val="3A4380"/>
                      </a:solidFill>
                      <a:prstDash val="solid"/>
                      <a:round/>
                      <a:headEnd type="none" w="med" len="med"/>
                      <a:tailEnd type="none" w="med" len="med"/>
                    </a:lnL>
                    <a:lnR w="12700" cap="flat" cmpd="sng" algn="ctr">
                      <a:solidFill>
                        <a:srgbClr val="3A4380"/>
                      </a:solidFill>
                      <a:prstDash val="solid"/>
                      <a:round/>
                      <a:headEnd type="none" w="med" len="med"/>
                      <a:tailEnd type="none" w="med" len="med"/>
                    </a:lnR>
                    <a:lnT w="12700" cap="flat" cmpd="sng" algn="ctr">
                      <a:solidFill>
                        <a:srgbClr val="3A4380"/>
                      </a:solidFill>
                      <a:prstDash val="solid"/>
                      <a:round/>
                      <a:headEnd type="none" w="med" len="med"/>
                      <a:tailEnd type="none" w="med" len="med"/>
                    </a:lnT>
                    <a:lnB w="12700" cap="flat" cmpd="sng" algn="ctr">
                      <a:solidFill>
                        <a:srgbClr val="3A4380"/>
                      </a:solidFill>
                      <a:prstDash val="solid"/>
                      <a:round/>
                      <a:headEnd type="none" w="med" len="med"/>
                      <a:tailEnd type="none" w="med" len="med"/>
                    </a:lnB>
                    <a:solidFill>
                      <a:srgbClr val="263080"/>
                    </a:solidFill>
                  </a:tcPr>
                </a:tc>
                <a:extLst>
                  <a:ext uri="{0D108BD9-81ED-4DB2-BD59-A6C34878D82A}">
                    <a16:rowId xmlns:a16="http://schemas.microsoft.com/office/drawing/2014/main" val="10001"/>
                  </a:ext>
                </a:extLst>
              </a:tr>
              <a:tr h="548640">
                <a:tc>
                  <a:txBody>
                    <a:bodyPr/>
                    <a:lstStyle/>
                    <a:p>
                      <a:pPr marL="0" indent="0">
                        <a:buNone/>
                      </a:pPr>
                      <a:r>
                        <a:rPr lang="en-US" sz="1300" b="1" dirty="0">
                          <a:solidFill>
                            <a:srgbClr val="FFFFFF"/>
                          </a:solidFill>
                          <a:latin typeface="Cambria" pitchFamily="34" charset="0"/>
                          <a:ea typeface="Cambria" pitchFamily="34" charset="-122"/>
                          <a:cs typeface="Cambria" pitchFamily="34" charset="-120"/>
                        </a:rPr>
                        <a:t>O(n log n)</a:t>
                      </a:r>
                      <a:endParaRPr lang="en-US" sz="1300" dirty="0">
                        <a:latin typeface="Cambria" charset="0"/>
                        <a:ea typeface="Cambria" charset="0"/>
                        <a:cs typeface="Cambria" charset="0"/>
                      </a:endParaRPr>
                    </a:p>
                  </a:txBody>
                  <a:tcPr anchor="ctr">
                    <a:lnL w="12700" cap="flat" cmpd="sng" algn="ctr">
                      <a:solidFill>
                        <a:srgbClr val="3A4380"/>
                      </a:solidFill>
                      <a:prstDash val="solid"/>
                      <a:round/>
                      <a:headEnd type="none" w="med" len="med"/>
                      <a:tailEnd type="none" w="med" len="med"/>
                    </a:lnL>
                    <a:lnR w="12700" cap="flat" cmpd="sng" algn="ctr">
                      <a:solidFill>
                        <a:srgbClr val="3A4380"/>
                      </a:solidFill>
                      <a:prstDash val="solid"/>
                      <a:round/>
                      <a:headEnd type="none" w="med" len="med"/>
                      <a:tailEnd type="none" w="med" len="med"/>
                    </a:lnR>
                    <a:lnT w="12700" cap="flat" cmpd="sng" algn="ctr">
                      <a:solidFill>
                        <a:srgbClr val="3A4380"/>
                      </a:solidFill>
                      <a:prstDash val="solid"/>
                      <a:round/>
                      <a:headEnd type="none" w="med" len="med"/>
                      <a:tailEnd type="none" w="med" len="med"/>
                    </a:lnT>
                    <a:lnB w="12700" cap="flat" cmpd="sng" algn="ctr">
                      <a:solidFill>
                        <a:srgbClr val="3A4380"/>
                      </a:solidFill>
                      <a:prstDash val="solid"/>
                      <a:round/>
                      <a:headEnd type="none" w="med" len="med"/>
                      <a:tailEnd type="none" w="med" len="med"/>
                    </a:lnB>
                    <a:solidFill>
                      <a:srgbClr val="202968"/>
                    </a:solidFill>
                  </a:tcPr>
                </a:tc>
                <a:tc>
                  <a:txBody>
                    <a:bodyPr/>
                    <a:lstStyle/>
                    <a:p>
                      <a:pPr marL="0" indent="0">
                        <a:buNone/>
                      </a:pPr>
                      <a:r>
                        <a:rPr lang="en-US" sz="1250" dirty="0">
                          <a:solidFill>
                            <a:srgbClr val="CADCFC"/>
                          </a:solidFill>
                          <a:latin typeface="Calibri" pitchFamily="34" charset="0"/>
                          <a:ea typeface="Calibri" pitchFamily="34" charset="-122"/>
                          <a:cs typeface="Calibri" pitchFamily="34" charset="-120"/>
                        </a:rPr>
                        <a:t>Millions</a:t>
                      </a:r>
                      <a:endParaRPr lang="en-US" sz="1250" dirty="0">
                        <a:latin typeface="Calibri" charset="0"/>
                        <a:ea typeface="Calibri" charset="0"/>
                        <a:cs typeface="Calibri" charset="0"/>
                      </a:endParaRPr>
                    </a:p>
                  </a:txBody>
                  <a:tcPr anchor="ctr">
                    <a:lnL w="12700" cap="flat" cmpd="sng" algn="ctr">
                      <a:solidFill>
                        <a:srgbClr val="3A4380"/>
                      </a:solidFill>
                      <a:prstDash val="solid"/>
                      <a:round/>
                      <a:headEnd type="none" w="med" len="med"/>
                      <a:tailEnd type="none" w="med" len="med"/>
                    </a:lnL>
                    <a:lnR w="12700" cap="flat" cmpd="sng" algn="ctr">
                      <a:solidFill>
                        <a:srgbClr val="3A4380"/>
                      </a:solidFill>
                      <a:prstDash val="solid"/>
                      <a:round/>
                      <a:headEnd type="none" w="med" len="med"/>
                      <a:tailEnd type="none" w="med" len="med"/>
                    </a:lnR>
                    <a:lnT w="12700" cap="flat" cmpd="sng" algn="ctr">
                      <a:solidFill>
                        <a:srgbClr val="3A4380"/>
                      </a:solidFill>
                      <a:prstDash val="solid"/>
                      <a:round/>
                      <a:headEnd type="none" w="med" len="med"/>
                      <a:tailEnd type="none" w="med" len="med"/>
                    </a:lnT>
                    <a:lnB w="12700" cap="flat" cmpd="sng" algn="ctr">
                      <a:solidFill>
                        <a:srgbClr val="3A4380"/>
                      </a:solidFill>
                      <a:prstDash val="solid"/>
                      <a:round/>
                      <a:headEnd type="none" w="med" len="med"/>
                      <a:tailEnd type="none" w="med" len="med"/>
                    </a:lnB>
                    <a:solidFill>
                      <a:srgbClr val="202968"/>
                    </a:solidFill>
                  </a:tcPr>
                </a:tc>
                <a:tc>
                  <a:txBody>
                    <a:bodyPr/>
                    <a:lstStyle/>
                    <a:p>
                      <a:pPr marL="0" indent="0">
                        <a:buNone/>
                      </a:pPr>
                      <a:r>
                        <a:rPr lang="en-US" sz="1250" dirty="0">
                          <a:solidFill>
                            <a:srgbClr val="CADCFC"/>
                          </a:solidFill>
                          <a:latin typeface="Calibri" pitchFamily="34" charset="0"/>
                          <a:ea typeface="Calibri" pitchFamily="34" charset="-122"/>
                          <a:cs typeface="Calibri" pitchFamily="34" charset="-120"/>
                        </a:rPr>
                        <a:t>Preferred for sorting and divide-and-conquer at scale</a:t>
                      </a:r>
                      <a:endParaRPr lang="en-US" sz="1250" dirty="0">
                        <a:latin typeface="Calibri" charset="0"/>
                        <a:ea typeface="Calibri" charset="0"/>
                        <a:cs typeface="Calibri" charset="0"/>
                      </a:endParaRPr>
                    </a:p>
                  </a:txBody>
                  <a:tcPr anchor="ctr">
                    <a:lnL w="12700" cap="flat" cmpd="sng" algn="ctr">
                      <a:solidFill>
                        <a:srgbClr val="3A4380"/>
                      </a:solidFill>
                      <a:prstDash val="solid"/>
                      <a:round/>
                      <a:headEnd type="none" w="med" len="med"/>
                      <a:tailEnd type="none" w="med" len="med"/>
                    </a:lnL>
                    <a:lnR w="12700" cap="flat" cmpd="sng" algn="ctr">
                      <a:solidFill>
                        <a:srgbClr val="3A4380"/>
                      </a:solidFill>
                      <a:prstDash val="solid"/>
                      <a:round/>
                      <a:headEnd type="none" w="med" len="med"/>
                      <a:tailEnd type="none" w="med" len="med"/>
                    </a:lnR>
                    <a:lnT w="12700" cap="flat" cmpd="sng" algn="ctr">
                      <a:solidFill>
                        <a:srgbClr val="3A4380"/>
                      </a:solidFill>
                      <a:prstDash val="solid"/>
                      <a:round/>
                      <a:headEnd type="none" w="med" len="med"/>
                      <a:tailEnd type="none" w="med" len="med"/>
                    </a:lnT>
                    <a:lnB w="12700" cap="flat" cmpd="sng" algn="ctr">
                      <a:solidFill>
                        <a:srgbClr val="3A4380"/>
                      </a:solidFill>
                      <a:prstDash val="solid"/>
                      <a:round/>
                      <a:headEnd type="none" w="med" len="med"/>
                      <a:tailEnd type="none" w="med" len="med"/>
                    </a:lnB>
                    <a:solidFill>
                      <a:srgbClr val="202968"/>
                    </a:solidFill>
                  </a:tcPr>
                </a:tc>
                <a:extLst>
                  <a:ext uri="{0D108BD9-81ED-4DB2-BD59-A6C34878D82A}">
                    <a16:rowId xmlns:a16="http://schemas.microsoft.com/office/drawing/2014/main" val="10002"/>
                  </a:ext>
                </a:extLst>
              </a:tr>
              <a:tr h="548640">
                <a:tc>
                  <a:txBody>
                    <a:bodyPr/>
                    <a:lstStyle/>
                    <a:p>
                      <a:pPr marL="0" indent="0">
                        <a:buNone/>
                      </a:pPr>
                      <a:r>
                        <a:rPr lang="en-US" sz="1300" b="1" dirty="0">
                          <a:solidFill>
                            <a:srgbClr val="FFFFFF"/>
                          </a:solidFill>
                          <a:latin typeface="Cambria" pitchFamily="34" charset="0"/>
                          <a:ea typeface="Cambria" pitchFamily="34" charset="-122"/>
                          <a:cs typeface="Cambria" pitchFamily="34" charset="-120"/>
                        </a:rPr>
                        <a:t>O(n²)</a:t>
                      </a:r>
                      <a:endParaRPr lang="en-US" sz="1300" dirty="0">
                        <a:latin typeface="Cambria" charset="0"/>
                        <a:ea typeface="Cambria" charset="0"/>
                        <a:cs typeface="Cambria" charset="0"/>
                      </a:endParaRPr>
                    </a:p>
                  </a:txBody>
                  <a:tcPr anchor="ctr">
                    <a:lnL w="12700" cap="flat" cmpd="sng" algn="ctr">
                      <a:solidFill>
                        <a:srgbClr val="3A4380"/>
                      </a:solidFill>
                      <a:prstDash val="solid"/>
                      <a:round/>
                      <a:headEnd type="none" w="med" len="med"/>
                      <a:tailEnd type="none" w="med" len="med"/>
                    </a:lnL>
                    <a:lnR w="12700" cap="flat" cmpd="sng" algn="ctr">
                      <a:solidFill>
                        <a:srgbClr val="3A4380"/>
                      </a:solidFill>
                      <a:prstDash val="solid"/>
                      <a:round/>
                      <a:headEnd type="none" w="med" len="med"/>
                      <a:tailEnd type="none" w="med" len="med"/>
                    </a:lnR>
                    <a:lnT w="12700" cap="flat" cmpd="sng" algn="ctr">
                      <a:solidFill>
                        <a:srgbClr val="3A4380"/>
                      </a:solidFill>
                      <a:prstDash val="solid"/>
                      <a:round/>
                      <a:headEnd type="none" w="med" len="med"/>
                      <a:tailEnd type="none" w="med" len="med"/>
                    </a:lnT>
                    <a:lnB w="12700" cap="flat" cmpd="sng" algn="ctr">
                      <a:solidFill>
                        <a:srgbClr val="3A4380"/>
                      </a:solidFill>
                      <a:prstDash val="solid"/>
                      <a:round/>
                      <a:headEnd type="none" w="med" len="med"/>
                      <a:tailEnd type="none" w="med" len="med"/>
                    </a:lnB>
                    <a:solidFill>
                      <a:srgbClr val="263080"/>
                    </a:solidFill>
                  </a:tcPr>
                </a:tc>
                <a:tc>
                  <a:txBody>
                    <a:bodyPr/>
                    <a:lstStyle/>
                    <a:p>
                      <a:pPr marL="0" indent="0">
                        <a:buNone/>
                      </a:pPr>
                      <a:r>
                        <a:rPr lang="en-US" sz="1250" dirty="0">
                          <a:solidFill>
                            <a:srgbClr val="CADCFC"/>
                          </a:solidFill>
                          <a:latin typeface="Calibri" pitchFamily="34" charset="0"/>
                          <a:ea typeface="Calibri" pitchFamily="34" charset="-122"/>
                          <a:cs typeface="Calibri" pitchFamily="34" charset="-120"/>
                        </a:rPr>
                        <a:t>Low thousands</a:t>
                      </a:r>
                      <a:endParaRPr lang="en-US" sz="1250" dirty="0">
                        <a:latin typeface="Calibri" charset="0"/>
                        <a:ea typeface="Calibri" charset="0"/>
                        <a:cs typeface="Calibri" charset="0"/>
                      </a:endParaRPr>
                    </a:p>
                  </a:txBody>
                  <a:tcPr anchor="ctr">
                    <a:lnL w="12700" cap="flat" cmpd="sng" algn="ctr">
                      <a:solidFill>
                        <a:srgbClr val="3A4380"/>
                      </a:solidFill>
                      <a:prstDash val="solid"/>
                      <a:round/>
                      <a:headEnd type="none" w="med" len="med"/>
                      <a:tailEnd type="none" w="med" len="med"/>
                    </a:lnL>
                    <a:lnR w="12700" cap="flat" cmpd="sng" algn="ctr">
                      <a:solidFill>
                        <a:srgbClr val="3A4380"/>
                      </a:solidFill>
                      <a:prstDash val="solid"/>
                      <a:round/>
                      <a:headEnd type="none" w="med" len="med"/>
                      <a:tailEnd type="none" w="med" len="med"/>
                    </a:lnR>
                    <a:lnT w="12700" cap="flat" cmpd="sng" algn="ctr">
                      <a:solidFill>
                        <a:srgbClr val="3A4380"/>
                      </a:solidFill>
                      <a:prstDash val="solid"/>
                      <a:round/>
                      <a:headEnd type="none" w="med" len="med"/>
                      <a:tailEnd type="none" w="med" len="med"/>
                    </a:lnT>
                    <a:lnB w="12700" cap="flat" cmpd="sng" algn="ctr">
                      <a:solidFill>
                        <a:srgbClr val="3A4380"/>
                      </a:solidFill>
                      <a:prstDash val="solid"/>
                      <a:round/>
                      <a:headEnd type="none" w="med" len="med"/>
                      <a:tailEnd type="none" w="med" len="med"/>
                    </a:lnB>
                    <a:solidFill>
                      <a:srgbClr val="263080"/>
                    </a:solidFill>
                  </a:tcPr>
                </a:tc>
                <a:tc>
                  <a:txBody>
                    <a:bodyPr/>
                    <a:lstStyle/>
                    <a:p>
                      <a:pPr marL="0" indent="0">
                        <a:buNone/>
                      </a:pPr>
                      <a:r>
                        <a:rPr lang="en-US" sz="1250" dirty="0">
                          <a:solidFill>
                            <a:srgbClr val="CADCFC"/>
                          </a:solidFill>
                          <a:latin typeface="Calibri" pitchFamily="34" charset="0"/>
                          <a:ea typeface="Calibri" pitchFamily="34" charset="-122"/>
                          <a:cs typeface="Calibri" pitchFamily="34" charset="-120"/>
                        </a:rPr>
                        <a:t>Acceptable only for small, bounded, or one-time datasets</a:t>
                      </a:r>
                      <a:endParaRPr lang="en-US" sz="1250" dirty="0">
                        <a:latin typeface="Calibri" charset="0"/>
                        <a:ea typeface="Calibri" charset="0"/>
                        <a:cs typeface="Calibri" charset="0"/>
                      </a:endParaRPr>
                    </a:p>
                  </a:txBody>
                  <a:tcPr anchor="ctr">
                    <a:lnL w="12700" cap="flat" cmpd="sng" algn="ctr">
                      <a:solidFill>
                        <a:srgbClr val="3A4380"/>
                      </a:solidFill>
                      <a:prstDash val="solid"/>
                      <a:round/>
                      <a:headEnd type="none" w="med" len="med"/>
                      <a:tailEnd type="none" w="med" len="med"/>
                    </a:lnL>
                    <a:lnR w="12700" cap="flat" cmpd="sng" algn="ctr">
                      <a:solidFill>
                        <a:srgbClr val="3A4380"/>
                      </a:solidFill>
                      <a:prstDash val="solid"/>
                      <a:round/>
                      <a:headEnd type="none" w="med" len="med"/>
                      <a:tailEnd type="none" w="med" len="med"/>
                    </a:lnR>
                    <a:lnT w="12700" cap="flat" cmpd="sng" algn="ctr">
                      <a:solidFill>
                        <a:srgbClr val="3A4380"/>
                      </a:solidFill>
                      <a:prstDash val="solid"/>
                      <a:round/>
                      <a:headEnd type="none" w="med" len="med"/>
                      <a:tailEnd type="none" w="med" len="med"/>
                    </a:lnT>
                    <a:lnB w="12700" cap="flat" cmpd="sng" algn="ctr">
                      <a:solidFill>
                        <a:srgbClr val="3A4380"/>
                      </a:solidFill>
                      <a:prstDash val="solid"/>
                      <a:round/>
                      <a:headEnd type="none" w="med" len="med"/>
                      <a:tailEnd type="none" w="med" len="med"/>
                    </a:lnB>
                    <a:solidFill>
                      <a:srgbClr val="263080"/>
                    </a:solidFill>
                  </a:tcPr>
                </a:tc>
                <a:extLst>
                  <a:ext uri="{0D108BD9-81ED-4DB2-BD59-A6C34878D82A}">
                    <a16:rowId xmlns:a16="http://schemas.microsoft.com/office/drawing/2014/main" val="10003"/>
                  </a:ext>
                </a:extLst>
              </a:tr>
              <a:tr h="548640">
                <a:tc>
                  <a:txBody>
                    <a:bodyPr/>
                    <a:lstStyle/>
                    <a:p>
                      <a:pPr marL="0" indent="0">
                        <a:buNone/>
                      </a:pPr>
                      <a:r>
                        <a:rPr lang="en-US" sz="1300" b="1" dirty="0">
                          <a:solidFill>
                            <a:srgbClr val="FFFFFF"/>
                          </a:solidFill>
                          <a:latin typeface="Cambria" pitchFamily="34" charset="0"/>
                          <a:ea typeface="Cambria" pitchFamily="34" charset="-122"/>
                          <a:cs typeface="Cambria" pitchFamily="34" charset="-120"/>
                        </a:rPr>
                        <a:t>O(2ⁿ)</a:t>
                      </a:r>
                      <a:endParaRPr lang="en-US" sz="1300" dirty="0">
                        <a:latin typeface="Cambria" charset="0"/>
                        <a:ea typeface="Cambria" charset="0"/>
                        <a:cs typeface="Cambria" charset="0"/>
                      </a:endParaRPr>
                    </a:p>
                  </a:txBody>
                  <a:tcPr anchor="ctr">
                    <a:lnL w="12700" cap="flat" cmpd="sng" algn="ctr">
                      <a:solidFill>
                        <a:srgbClr val="3A4380"/>
                      </a:solidFill>
                      <a:prstDash val="solid"/>
                      <a:round/>
                      <a:headEnd type="none" w="med" len="med"/>
                      <a:tailEnd type="none" w="med" len="med"/>
                    </a:lnL>
                    <a:lnR w="12700" cap="flat" cmpd="sng" algn="ctr">
                      <a:solidFill>
                        <a:srgbClr val="3A4380"/>
                      </a:solidFill>
                      <a:prstDash val="solid"/>
                      <a:round/>
                      <a:headEnd type="none" w="med" len="med"/>
                      <a:tailEnd type="none" w="med" len="med"/>
                    </a:lnR>
                    <a:lnT w="12700" cap="flat" cmpd="sng" algn="ctr">
                      <a:solidFill>
                        <a:srgbClr val="3A4380"/>
                      </a:solidFill>
                      <a:prstDash val="solid"/>
                      <a:round/>
                      <a:headEnd type="none" w="med" len="med"/>
                      <a:tailEnd type="none" w="med" len="med"/>
                    </a:lnT>
                    <a:lnB w="12700" cap="flat" cmpd="sng" algn="ctr">
                      <a:solidFill>
                        <a:srgbClr val="3A4380"/>
                      </a:solidFill>
                      <a:prstDash val="solid"/>
                      <a:round/>
                      <a:headEnd type="none" w="med" len="med"/>
                      <a:tailEnd type="none" w="med" len="med"/>
                    </a:lnB>
                    <a:solidFill>
                      <a:srgbClr val="202968"/>
                    </a:solidFill>
                  </a:tcPr>
                </a:tc>
                <a:tc>
                  <a:txBody>
                    <a:bodyPr/>
                    <a:lstStyle/>
                    <a:p>
                      <a:pPr marL="0" indent="0">
                        <a:buNone/>
                      </a:pPr>
                      <a:r>
                        <a:rPr lang="en-US" sz="1250" dirty="0">
                          <a:solidFill>
                            <a:srgbClr val="CADCFC"/>
                          </a:solidFill>
                          <a:latin typeface="Calibri" pitchFamily="34" charset="0"/>
                          <a:ea typeface="Calibri" pitchFamily="34" charset="-122"/>
                          <a:cs typeface="Calibri" pitchFamily="34" charset="-120"/>
                        </a:rPr>
                        <a:t>~25–30</a:t>
                      </a:r>
                      <a:endParaRPr lang="en-US" sz="1250" dirty="0">
                        <a:latin typeface="Calibri" charset="0"/>
                        <a:ea typeface="Calibri" charset="0"/>
                        <a:cs typeface="Calibri" charset="0"/>
                      </a:endParaRPr>
                    </a:p>
                  </a:txBody>
                  <a:tcPr anchor="ctr">
                    <a:lnL w="12700" cap="flat" cmpd="sng" algn="ctr">
                      <a:solidFill>
                        <a:srgbClr val="3A4380"/>
                      </a:solidFill>
                      <a:prstDash val="solid"/>
                      <a:round/>
                      <a:headEnd type="none" w="med" len="med"/>
                      <a:tailEnd type="none" w="med" len="med"/>
                    </a:lnL>
                    <a:lnR w="12700" cap="flat" cmpd="sng" algn="ctr">
                      <a:solidFill>
                        <a:srgbClr val="3A4380"/>
                      </a:solidFill>
                      <a:prstDash val="solid"/>
                      <a:round/>
                      <a:headEnd type="none" w="med" len="med"/>
                      <a:tailEnd type="none" w="med" len="med"/>
                    </a:lnR>
                    <a:lnT w="12700" cap="flat" cmpd="sng" algn="ctr">
                      <a:solidFill>
                        <a:srgbClr val="3A4380"/>
                      </a:solidFill>
                      <a:prstDash val="solid"/>
                      <a:round/>
                      <a:headEnd type="none" w="med" len="med"/>
                      <a:tailEnd type="none" w="med" len="med"/>
                    </a:lnT>
                    <a:lnB w="12700" cap="flat" cmpd="sng" algn="ctr">
                      <a:solidFill>
                        <a:srgbClr val="3A4380"/>
                      </a:solidFill>
                      <a:prstDash val="solid"/>
                      <a:round/>
                      <a:headEnd type="none" w="med" len="med"/>
                      <a:tailEnd type="none" w="med" len="med"/>
                    </a:lnB>
                    <a:solidFill>
                      <a:srgbClr val="202968"/>
                    </a:solidFill>
                  </a:tcPr>
                </a:tc>
                <a:tc>
                  <a:txBody>
                    <a:bodyPr/>
                    <a:lstStyle/>
                    <a:p>
                      <a:pPr marL="0" indent="0">
                        <a:buNone/>
                      </a:pPr>
                      <a:r>
                        <a:rPr lang="en-US" sz="1250" dirty="0">
                          <a:solidFill>
                            <a:srgbClr val="CADCFC"/>
                          </a:solidFill>
                          <a:latin typeface="Calibri" pitchFamily="34" charset="0"/>
                          <a:ea typeface="Calibri" pitchFamily="34" charset="-122"/>
                          <a:cs typeface="Calibri" pitchFamily="34" charset="-120"/>
                        </a:rPr>
                        <a:t>Avoid; redesign with dynamic programming, pruning, or heuristics</a:t>
                      </a:r>
                      <a:endParaRPr lang="en-US" sz="1250" dirty="0">
                        <a:latin typeface="Calibri" charset="0"/>
                        <a:ea typeface="Calibri" charset="0"/>
                        <a:cs typeface="Calibri" charset="0"/>
                      </a:endParaRPr>
                    </a:p>
                  </a:txBody>
                  <a:tcPr anchor="ctr">
                    <a:lnL w="12700" cap="flat" cmpd="sng" algn="ctr">
                      <a:solidFill>
                        <a:srgbClr val="3A4380"/>
                      </a:solidFill>
                      <a:prstDash val="solid"/>
                      <a:round/>
                      <a:headEnd type="none" w="med" len="med"/>
                      <a:tailEnd type="none" w="med" len="med"/>
                    </a:lnL>
                    <a:lnR w="12700" cap="flat" cmpd="sng" algn="ctr">
                      <a:solidFill>
                        <a:srgbClr val="3A4380"/>
                      </a:solidFill>
                      <a:prstDash val="solid"/>
                      <a:round/>
                      <a:headEnd type="none" w="med" len="med"/>
                      <a:tailEnd type="none" w="med" len="med"/>
                    </a:lnR>
                    <a:lnT w="12700" cap="flat" cmpd="sng" algn="ctr">
                      <a:solidFill>
                        <a:srgbClr val="3A4380"/>
                      </a:solidFill>
                      <a:prstDash val="solid"/>
                      <a:round/>
                      <a:headEnd type="none" w="med" len="med"/>
                      <a:tailEnd type="none" w="med" len="med"/>
                    </a:lnT>
                    <a:lnB w="12700" cap="flat" cmpd="sng" algn="ctr">
                      <a:solidFill>
                        <a:srgbClr val="3A4380"/>
                      </a:solidFill>
                      <a:prstDash val="solid"/>
                      <a:round/>
                      <a:headEnd type="none" w="med" len="med"/>
                      <a:tailEnd type="none" w="med" len="med"/>
                    </a:lnB>
                    <a:solidFill>
                      <a:srgbClr val="202968"/>
                    </a:solidFill>
                  </a:tcPr>
                </a:tc>
                <a:extLst>
                  <a:ext uri="{0D108BD9-81ED-4DB2-BD59-A6C34878D82A}">
                    <a16:rowId xmlns:a16="http://schemas.microsoft.com/office/drawing/2014/main" val="10004"/>
                  </a:ext>
                </a:extLst>
              </a:tr>
            </a:tbl>
          </a:graphicData>
        </a:graphic>
      </p:graphicFrame>
      <p:sp>
        <p:nvSpPr>
          <p:cNvPr id="6" name="Shape 3"/>
          <p:cNvSpPr/>
          <p:nvPr/>
        </p:nvSpPr>
        <p:spPr>
          <a:xfrm>
            <a:off x="548640" y="4846320"/>
            <a:ext cx="11094415" cy="1417320"/>
          </a:xfrm>
          <a:prstGeom prst="roundRect">
            <a:avLst>
              <a:gd name="adj" fmla="val 5161"/>
            </a:avLst>
          </a:prstGeom>
          <a:solidFill>
            <a:srgbClr val="263080"/>
          </a:solidFill>
          <a:ln w="12700">
            <a:solidFill>
              <a:srgbClr val="E8622C"/>
            </a:solidFill>
            <a:prstDash val="solid"/>
          </a:ln>
        </p:spPr>
      </p:sp>
      <p:sp>
        <p:nvSpPr>
          <p:cNvPr id="7" name="Text 4"/>
          <p:cNvSpPr/>
          <p:nvPr/>
        </p:nvSpPr>
        <p:spPr>
          <a:xfrm>
            <a:off x="868680" y="5029200"/>
            <a:ext cx="3657600" cy="274320"/>
          </a:xfrm>
          <a:prstGeom prst="rect">
            <a:avLst/>
          </a:prstGeom>
          <a:noFill/>
          <a:ln/>
        </p:spPr>
        <p:txBody>
          <a:bodyPr wrap="square" rtlCol="0" anchor="ctr"/>
          <a:lstStyle/>
          <a:p>
            <a:pPr marL="0" indent="0">
              <a:buNone/>
            </a:pPr>
            <a:r>
              <a:rPr lang="en-US" sz="1100" b="1" kern="0" spc="200" dirty="0">
                <a:solidFill>
                  <a:srgbClr val="E8622C"/>
                </a:solidFill>
                <a:latin typeface="Calibri" pitchFamily="34" charset="0"/>
                <a:ea typeface="Calibri" pitchFamily="34" charset="-122"/>
                <a:cs typeface="Calibri" pitchFamily="34" charset="-120"/>
              </a:rPr>
              <a:t>KEY TAKEAWAY</a:t>
            </a:r>
            <a:endParaRPr lang="en-US" sz="1100" dirty="0"/>
          </a:p>
        </p:txBody>
      </p:sp>
      <p:sp>
        <p:nvSpPr>
          <p:cNvPr id="8" name="Text 5"/>
          <p:cNvSpPr/>
          <p:nvPr/>
        </p:nvSpPr>
        <p:spPr>
          <a:xfrm>
            <a:off x="868680" y="5321808"/>
            <a:ext cx="10454335" cy="868680"/>
          </a:xfrm>
          <a:prstGeom prst="rect">
            <a:avLst/>
          </a:prstGeom>
          <a:noFill/>
          <a:ln/>
        </p:spPr>
        <p:txBody>
          <a:bodyPr wrap="square" rtlCol="0" anchor="ctr"/>
          <a:lstStyle/>
          <a:p>
            <a:pPr marL="0" indent="0">
              <a:lnSpc>
                <a:spcPts val="1800"/>
              </a:lnSpc>
              <a:buNone/>
            </a:pPr>
            <a:r>
              <a:rPr lang="en-US" sz="1300" dirty="0">
                <a:solidFill>
                  <a:srgbClr val="FFFFFF"/>
                </a:solidFill>
                <a:latin typeface="Calibri" pitchFamily="34" charset="0"/>
                <a:ea typeface="Calibri" pitchFamily="34" charset="-122"/>
                <a:cs typeface="Calibri" pitchFamily="34" charset="-120"/>
              </a:rPr>
              <a:t>As problem size grows, the algorithm's growth class — not the hardware — determines whether a solution stays practical. Favor logarithmic and linear designs; treat quadratic as a ceiling, and exponential as a last resort.</a:t>
            </a:r>
            <a:endParaRPr lang="en-US" sz="1300" dirty="0"/>
          </a:p>
        </p:txBody>
      </p:sp>
      <p:sp>
        <p:nvSpPr>
          <p:cNvPr id="9" name="Text 6"/>
          <p:cNvSpPr/>
          <p:nvPr/>
        </p:nvSpPr>
        <p:spPr>
          <a:xfrm>
            <a:off x="11094415" y="6446520"/>
            <a:ext cx="822960" cy="274320"/>
          </a:xfrm>
          <a:prstGeom prst="rect">
            <a:avLst/>
          </a:prstGeom>
          <a:noFill/>
          <a:ln/>
        </p:spPr>
        <p:txBody>
          <a:bodyPr wrap="square" rtlCol="0" anchor="ctr"/>
          <a:lstStyle/>
          <a:p>
            <a:pPr marL="0" indent="0" algn="r">
              <a:buNone/>
            </a:pPr>
            <a:r>
              <a:rPr lang="en-US" sz="1000" dirty="0">
                <a:solidFill>
                  <a:srgbClr val="8891B5"/>
                </a:solidFill>
                <a:latin typeface="Calibri" pitchFamily="34" charset="0"/>
                <a:ea typeface="Calibri" pitchFamily="34" charset="-122"/>
                <a:cs typeface="Calibri" pitchFamily="34" charset="-120"/>
              </a:rPr>
              <a:t>10 / 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1060</Words>
  <Application>Microsoft Office PowerPoint</Application>
  <PresentationFormat>Widescreen</PresentationFormat>
  <Paragraphs>165</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Ranjith Kumar</cp:lastModifiedBy>
  <cp:revision>3</cp:revision>
  <dcterms:created xsi:type="dcterms:W3CDTF">2026-07-17T08:28:09Z</dcterms:created>
  <dcterms:modified xsi:type="dcterms:W3CDTF">2026-07-20T04:54:45Z</dcterms:modified>
</cp:coreProperties>
</file>